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Lora" pitchFamily="2" charset="0"/>
      <p:regular r:id="rId13"/>
    </p:embeddedFont>
    <p:embeddedFont>
      <p:font typeface="Source Sans 3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4320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465189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Analytics: Key Insights &amp; Actions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232196"/>
            <a:ext cx="746855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presentation summarizes key findings from customer data, focusing on purchasing behavior, loyalty, and opportunities for strategic action. Our analysis aims to enhance customer lifetime value and optimize operational efficiencies.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238" y="701159"/>
            <a:ext cx="12666821" cy="640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 Overview: A Glimpse into Customer Behavior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62238" y="1777246"/>
            <a:ext cx="13105924" cy="4809411"/>
          </a:xfrm>
          <a:prstGeom prst="roundRect">
            <a:avLst>
              <a:gd name="adj" fmla="val 679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9858" y="1784866"/>
            <a:ext cx="13090684" cy="6248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87742" y="1923098"/>
            <a:ext cx="3487817" cy="348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Rows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918710" y="1923098"/>
            <a:ext cx="8724067" cy="348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2,000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69858" y="2409706"/>
            <a:ext cx="13090684" cy="6248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87742" y="2547938"/>
            <a:ext cx="3487817" cy="348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Columns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918710" y="2547938"/>
            <a:ext cx="8724067" cy="348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18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69858" y="3034546"/>
            <a:ext cx="13090684" cy="16699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87742" y="3172778"/>
            <a:ext cx="3487817" cy="348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Columns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918710" y="3172778"/>
            <a:ext cx="8724067" cy="1393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Customer_ID, Customer_Name, Age, Gender, Location, Product_Category, Purchase_Date, Purchase_Amount, Payment_Method, Rating, Feedback_Comments, Customer_Lifetime_Value, Loyalty_Score, Discount_Applied, Return_Status, Customer_Segment, Preferred_Shopping_Channel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69858" y="4704517"/>
            <a:ext cx="13090684" cy="6248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87742" y="4842748"/>
            <a:ext cx="3487817" cy="348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Date Range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918710" y="4842748"/>
            <a:ext cx="8724067" cy="348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15 days (approx. Jan 15-30, 2020)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69858" y="5329357"/>
            <a:ext cx="13090684" cy="6248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87742" y="5467588"/>
            <a:ext cx="3487817" cy="348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Unique Customers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918710" y="5467588"/>
            <a:ext cx="8724067" cy="348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1,378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69858" y="5954197"/>
            <a:ext cx="13090684" cy="6248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87742" y="6092428"/>
            <a:ext cx="3487817" cy="348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Unique Products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918710" y="6092428"/>
            <a:ext cx="8724067" cy="348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1,018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62238" y="6831568"/>
            <a:ext cx="13105924" cy="696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dataset provides a comprehensive snapshot of customer interactions over a 15-day period, enabling granular analysis of purchasing patterns and demographic insights.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76469"/>
            <a:ext cx="1046988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Quality: Addressing Missing Values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459236"/>
            <a:ext cx="6357818" cy="1801177"/>
          </a:xfrm>
          <a:prstGeom prst="roundRect">
            <a:avLst>
              <a:gd name="adj" fmla="val 8123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244" y="2459236"/>
            <a:ext cx="121920" cy="18011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98959" y="272903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Feedback Comments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98959" y="3224570"/>
            <a:ext cx="57267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Approximately 45% missing, indicating a potential area for enhanced customer engagement strategies.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7434858" y="2459236"/>
            <a:ext cx="6357818" cy="1801177"/>
          </a:xfrm>
          <a:prstGeom prst="roundRect">
            <a:avLst>
              <a:gd name="adj" fmla="val 8123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378" y="2459236"/>
            <a:ext cx="121920" cy="180117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96093" y="272903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Rating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796093" y="3224570"/>
            <a:ext cx="57267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Around 15% missing, which could impact the accuracy of sentiment analysis and product satisfaction metrics.</a:t>
            </a:r>
            <a:endParaRPr lang="en-US" sz="1850" dirty="0"/>
          </a:p>
        </p:txBody>
      </p:sp>
      <p:sp>
        <p:nvSpPr>
          <p:cNvPr id="11" name="Shape 7"/>
          <p:cNvSpPr/>
          <p:nvPr/>
        </p:nvSpPr>
        <p:spPr>
          <a:xfrm>
            <a:off x="837724" y="4499729"/>
            <a:ext cx="6357818" cy="1801177"/>
          </a:xfrm>
          <a:prstGeom prst="roundRect">
            <a:avLst>
              <a:gd name="adj" fmla="val 8123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244" y="4499729"/>
            <a:ext cx="121920" cy="180117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98959" y="4769525"/>
            <a:ext cx="295798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Name &amp; Age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198959" y="5265063"/>
            <a:ext cx="57267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Minor gaps (1% and 0.8% respectively) require attention for personalized marketing efforts.</a:t>
            </a:r>
            <a:endParaRPr lang="en-US" sz="1850" dirty="0"/>
          </a:p>
        </p:txBody>
      </p:sp>
      <p:sp>
        <p:nvSpPr>
          <p:cNvPr id="15" name="Shape 10"/>
          <p:cNvSpPr/>
          <p:nvPr/>
        </p:nvSpPr>
        <p:spPr>
          <a:xfrm>
            <a:off x="7434858" y="4499729"/>
            <a:ext cx="6357818" cy="1801177"/>
          </a:xfrm>
          <a:prstGeom prst="roundRect">
            <a:avLst>
              <a:gd name="adj" fmla="val 8123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378" y="4499729"/>
            <a:ext cx="121920" cy="180117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96093" y="4769525"/>
            <a:ext cx="475368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Purchase Date &amp; Customer Segment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796093" y="5265063"/>
            <a:ext cx="57267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Minimal missing data (0.3% and 0.5%), suggesting high reliability for transactional and segmentation analysis.</a:t>
            </a:r>
            <a:endParaRPr lang="en-US" sz="1850" dirty="0"/>
          </a:p>
        </p:txBody>
      </p:sp>
      <p:sp>
        <p:nvSpPr>
          <p:cNvPr id="19" name="Text 13"/>
          <p:cNvSpPr/>
          <p:nvPr/>
        </p:nvSpPr>
        <p:spPr>
          <a:xfrm>
            <a:off x="837724" y="6570107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Addressing these missing value hotspots is crucial for improving data integrity and the reliability of future analyses.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0538" y="610553"/>
            <a:ext cx="6816923" cy="412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Metrics: Understanding Customer Value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997041" y="2213967"/>
            <a:ext cx="1723906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44</a:t>
            </a:r>
            <a:endParaRPr lang="en-US" sz="2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851" y="1338024"/>
            <a:ext cx="2102406" cy="21024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34546" y="3615571"/>
            <a:ext cx="1649016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Average Age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90538" y="3905726"/>
            <a:ext cx="6737033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customer base has an average age of 44 years, with a standard deviation of 15 years.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909215" y="2213967"/>
            <a:ext cx="1723906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277 USD</a:t>
            </a:r>
            <a:endParaRPr lang="en-US" sz="2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024" y="1338024"/>
            <a:ext cx="2102406" cy="21024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14573" y="3615571"/>
            <a:ext cx="1713309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Avg. Purchase Amount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402711" y="3905726"/>
            <a:ext cx="6737152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average purchase amount is $277 USD, with a median of $242 USD, indicating varied transaction sizes.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997041" y="5321141"/>
            <a:ext cx="1723906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2512 USD</a:t>
            </a:r>
            <a:endParaRPr lang="en-US" sz="2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7851" y="4445198"/>
            <a:ext cx="2102406" cy="210240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034546" y="6722745"/>
            <a:ext cx="1649016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Avg. CLV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90538" y="7012900"/>
            <a:ext cx="6737033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Average Customer Lifetime Value stands at $2,512 USD, reflecting the long-term profitability of our customers.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9909215" y="5321141"/>
            <a:ext cx="1723906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49</a:t>
            </a:r>
            <a:endParaRPr lang="en-US" sz="27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0024" y="4445198"/>
            <a:ext cx="2102406" cy="210240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946719" y="6722745"/>
            <a:ext cx="1649016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Avg. Loyalty Score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7402711" y="7012900"/>
            <a:ext cx="6737152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Customers show an average loyalty score of 49 out of 100, suggesting room for loyalty program enhancements.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90538" y="7394734"/>
            <a:ext cx="13649325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These core metrics provide a foundation for segmenting customers and tailoring engagement strategies.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487" y="366474"/>
            <a:ext cx="5253871" cy="391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Rating &amp; Purchase Behavior Insights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66487" y="1078230"/>
            <a:ext cx="6686193" cy="426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distribution of ratings reveals a largely satisfied customer base, with </a:t>
            </a:r>
            <a:r>
              <a:rPr lang="en-US" sz="10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62% of ratings at 4 or 5 stars</a:t>
            </a: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However, lower ratings are associated with higher return rates.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66487" y="1654373"/>
            <a:ext cx="6686193" cy="3744158"/>
          </a:xfrm>
          <a:prstGeom prst="roundRect">
            <a:avLst>
              <a:gd name="adj" fmla="val 534"/>
            </a:avLst>
          </a:prstGeom>
          <a:solidFill>
            <a:srgbClr val="4D4D5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2962" y="3393162"/>
            <a:ext cx="233124" cy="26646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340" y="1108234"/>
            <a:ext cx="6686193" cy="66861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85340" y="7944326"/>
            <a:ext cx="1967746" cy="195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Discount Impact &amp; Returns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485340" y="8273534"/>
            <a:ext cx="6686193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36% of all transactions benefited from a discount, suggesting strategic application rather than widespread use.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485340" y="8533209"/>
            <a:ext cx="6686193" cy="426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22% of purchases resulted in a return, indicating a need for deeper investigation into product satisfaction and quality.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485340" y="9006007"/>
            <a:ext cx="6686193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Returns are more common among VIPs (26%) and customers utilizing both online and in-store channels (28%).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2112" y="552807"/>
            <a:ext cx="7739777" cy="1179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Segmentation &amp; Channel Preference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702112" y="2033588"/>
            <a:ext cx="802362" cy="1458158"/>
          </a:xfrm>
          <a:prstGeom prst="roundRect">
            <a:avLst>
              <a:gd name="adj" fmla="val 360029"/>
            </a:avLst>
          </a:prstGeom>
          <a:solidFill>
            <a:srgbClr val="444752"/>
          </a:solidFill>
          <a:ln/>
        </p:spPr>
      </p:sp>
      <p:sp>
        <p:nvSpPr>
          <p:cNvPr id="5" name="Text 2"/>
          <p:cNvSpPr/>
          <p:nvPr/>
        </p:nvSpPr>
        <p:spPr>
          <a:xfrm>
            <a:off x="952857" y="2574608"/>
            <a:ext cx="300871" cy="376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1704975" y="2234089"/>
            <a:ext cx="2360057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Regular Customers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704975" y="2649260"/>
            <a:ext cx="6736913" cy="641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Comprising 45% of our base, these customers represent a significant opportunity for growth and increased engagement.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02112" y="3692247"/>
            <a:ext cx="802362" cy="1458158"/>
          </a:xfrm>
          <a:prstGeom prst="roundRect">
            <a:avLst>
              <a:gd name="adj" fmla="val 360029"/>
            </a:avLst>
          </a:prstGeom>
          <a:solidFill>
            <a:srgbClr val="444752"/>
          </a:solidFill>
          <a:ln/>
        </p:spPr>
      </p:sp>
      <p:sp>
        <p:nvSpPr>
          <p:cNvPr id="9" name="Text 6"/>
          <p:cNvSpPr/>
          <p:nvPr/>
        </p:nvSpPr>
        <p:spPr>
          <a:xfrm>
            <a:off x="952857" y="4233267"/>
            <a:ext cx="300871" cy="376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350" dirty="0"/>
          </a:p>
        </p:txBody>
      </p:sp>
      <p:sp>
        <p:nvSpPr>
          <p:cNvPr id="10" name="Text 7"/>
          <p:cNvSpPr/>
          <p:nvPr/>
        </p:nvSpPr>
        <p:spPr>
          <a:xfrm>
            <a:off x="1704975" y="3892748"/>
            <a:ext cx="2360057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VIP Customers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704975" y="4307919"/>
            <a:ext cx="6736913" cy="641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crucial 30% of our customer base, showing higher spend and loyalty. They warrant tailored experiences.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702112" y="5350907"/>
            <a:ext cx="802362" cy="1458158"/>
          </a:xfrm>
          <a:prstGeom prst="roundRect">
            <a:avLst>
              <a:gd name="adj" fmla="val 360029"/>
            </a:avLst>
          </a:prstGeom>
          <a:solidFill>
            <a:srgbClr val="444752"/>
          </a:solidFill>
          <a:ln/>
        </p:spPr>
      </p:sp>
      <p:sp>
        <p:nvSpPr>
          <p:cNvPr id="13" name="Text 10"/>
          <p:cNvSpPr/>
          <p:nvPr/>
        </p:nvSpPr>
        <p:spPr>
          <a:xfrm>
            <a:off x="952857" y="5891927"/>
            <a:ext cx="300871" cy="376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350" dirty="0"/>
          </a:p>
        </p:txBody>
      </p:sp>
      <p:sp>
        <p:nvSpPr>
          <p:cNvPr id="14" name="Text 11"/>
          <p:cNvSpPr/>
          <p:nvPr/>
        </p:nvSpPr>
        <p:spPr>
          <a:xfrm>
            <a:off x="1704975" y="5551408"/>
            <a:ext cx="2360057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New Customers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1704975" y="5966579"/>
            <a:ext cx="6736913" cy="641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Representing 25%, these customers are prime candidates for onboarding campaigns and initial loyalty building.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02112" y="7034689"/>
            <a:ext cx="7739777" cy="641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Understanding these segments allows us to develop targeted strategies for acquisition, retention, and growth across all customer types.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5414" y="357783"/>
            <a:ext cx="5454372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Geographic &amp; Product Category Focus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5414" y="1065848"/>
            <a:ext cx="1531025" cy="191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Top 5 Locations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5414" y="1387316"/>
            <a:ext cx="6701076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New York (22%)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5414" y="1640919"/>
            <a:ext cx="6701076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Los Angeles (13%)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5414" y="1894523"/>
            <a:ext cx="6701076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Houston (12%)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5414" y="2148126"/>
            <a:ext cx="6701076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Chicago (11%)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5414" y="2401729"/>
            <a:ext cx="6701076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San Francisco (10%)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414" y="2756178"/>
            <a:ext cx="6701076" cy="67010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81530" y="1065848"/>
            <a:ext cx="1808798" cy="191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Top 5 Product Categories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481530" y="1387316"/>
            <a:ext cx="6701076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Books (19%)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81530" y="1640919"/>
            <a:ext cx="6701076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Toys (17%)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81530" y="1894523"/>
            <a:ext cx="6701076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Home Appliances (16%)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81530" y="2148126"/>
            <a:ext cx="6701076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Clothing (15%)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481530" y="2401729"/>
            <a:ext cx="6701076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Electronics (13%)</a:t>
            </a:r>
            <a:endParaRPr lang="en-US" sz="1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1530" y="2756178"/>
            <a:ext cx="6701076" cy="670107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5414" y="9749909"/>
            <a:ext cx="13719572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These insights help prioritize marketing efforts and inventory management, focusing on key markets and high-demand products.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77622"/>
            <a:ext cx="972192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High-Value vs. Low-Value Customers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519363"/>
            <a:ext cx="6357818" cy="4080391"/>
          </a:xfrm>
          <a:prstGeom prst="roundRect">
            <a:avLst>
              <a:gd name="adj" fmla="val 3586"/>
            </a:avLst>
          </a:prstGeom>
          <a:solidFill>
            <a:srgbClr val="25283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488883"/>
            <a:ext cx="6357818" cy="1219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40" y="2160389"/>
            <a:ext cx="718066" cy="71806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72925" y="2375773"/>
            <a:ext cx="287179" cy="28717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107519" y="3117771"/>
            <a:ext cx="330243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High-Value (Top 5% CLV)</a:t>
            </a:r>
            <a:endParaRPr lang="en-US" sz="2200" dirty="0"/>
          </a:p>
        </p:txBody>
      </p:sp>
      <p:sp>
        <p:nvSpPr>
          <p:cNvPr id="8" name="Text 3"/>
          <p:cNvSpPr/>
          <p:nvPr/>
        </p:nvSpPr>
        <p:spPr>
          <a:xfrm>
            <a:off x="1107519" y="3613309"/>
            <a:ext cx="581822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Avg CLV: ~$7,800 USD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1107519" y="4080034"/>
            <a:ext cx="581822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Avg Loyalty: ~78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1107519" y="4546759"/>
            <a:ext cx="581822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Avg Purchase: ~$460 USD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107519" y="5013484"/>
            <a:ext cx="581822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Discount Applied: 85%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1107519" y="5480209"/>
            <a:ext cx="581822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VIP Segment: 70%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1107519" y="5946934"/>
            <a:ext cx="581822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Shopping Channel: 60% Online</a:t>
            </a:r>
            <a:endParaRPr lang="en-US" sz="1850" dirty="0"/>
          </a:p>
        </p:txBody>
      </p:sp>
      <p:sp>
        <p:nvSpPr>
          <p:cNvPr id="14" name="Shape 9"/>
          <p:cNvSpPr/>
          <p:nvPr/>
        </p:nvSpPr>
        <p:spPr>
          <a:xfrm>
            <a:off x="7434858" y="2519363"/>
            <a:ext cx="6357818" cy="4080391"/>
          </a:xfrm>
          <a:prstGeom prst="roundRect">
            <a:avLst>
              <a:gd name="adj" fmla="val 3586"/>
            </a:avLst>
          </a:prstGeom>
          <a:solidFill>
            <a:srgbClr val="252833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858" y="2488883"/>
            <a:ext cx="6357818" cy="121920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675" y="2160389"/>
            <a:ext cx="718066" cy="718066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70059" y="2375773"/>
            <a:ext cx="287179" cy="287179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704653" y="3117771"/>
            <a:ext cx="369760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Low-Value (Bottom 5% CLV)</a:t>
            </a:r>
            <a:endParaRPr lang="en-US" sz="2200" dirty="0"/>
          </a:p>
        </p:txBody>
      </p:sp>
      <p:sp>
        <p:nvSpPr>
          <p:cNvPr id="19" name="Text 11"/>
          <p:cNvSpPr/>
          <p:nvPr/>
        </p:nvSpPr>
        <p:spPr>
          <a:xfrm>
            <a:off x="7704653" y="3613309"/>
            <a:ext cx="581822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Avg CLV: ~$450 USD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7704653" y="4080034"/>
            <a:ext cx="581822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Avg Loyalty: ~22</a:t>
            </a:r>
            <a:endParaRPr lang="en-US" sz="1850" dirty="0"/>
          </a:p>
        </p:txBody>
      </p:sp>
      <p:sp>
        <p:nvSpPr>
          <p:cNvPr id="21" name="Text 13"/>
          <p:cNvSpPr/>
          <p:nvPr/>
        </p:nvSpPr>
        <p:spPr>
          <a:xfrm>
            <a:off x="7704653" y="4546759"/>
            <a:ext cx="581822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Avg Purchase: ~$92 USD</a:t>
            </a:r>
            <a:endParaRPr lang="en-US" sz="1850" dirty="0"/>
          </a:p>
        </p:txBody>
      </p:sp>
      <p:sp>
        <p:nvSpPr>
          <p:cNvPr id="22" name="Text 14"/>
          <p:cNvSpPr/>
          <p:nvPr/>
        </p:nvSpPr>
        <p:spPr>
          <a:xfrm>
            <a:off x="7704653" y="5013484"/>
            <a:ext cx="581822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Discount Applied: 30%</a:t>
            </a:r>
            <a:endParaRPr lang="en-US" sz="1850" dirty="0"/>
          </a:p>
        </p:txBody>
      </p:sp>
      <p:sp>
        <p:nvSpPr>
          <p:cNvPr id="23" name="Text 15"/>
          <p:cNvSpPr/>
          <p:nvPr/>
        </p:nvSpPr>
        <p:spPr>
          <a:xfrm>
            <a:off x="7704653" y="5480209"/>
            <a:ext cx="581822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Regular Segment: 70%</a:t>
            </a:r>
            <a:endParaRPr lang="en-US" sz="1850" dirty="0"/>
          </a:p>
        </p:txBody>
      </p:sp>
      <p:sp>
        <p:nvSpPr>
          <p:cNvPr id="24" name="Text 16"/>
          <p:cNvSpPr/>
          <p:nvPr/>
        </p:nvSpPr>
        <p:spPr>
          <a:xfrm>
            <a:off x="7704653" y="5946934"/>
            <a:ext cx="581822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Shopping Channel: 45% In-store</a:t>
            </a:r>
            <a:endParaRPr lang="en-US" sz="1850" dirty="0"/>
          </a:p>
        </p:txBody>
      </p:sp>
      <p:sp>
        <p:nvSpPr>
          <p:cNvPr id="25" name="Text 17"/>
          <p:cNvSpPr/>
          <p:nvPr/>
        </p:nvSpPr>
        <p:spPr>
          <a:xfrm>
            <a:off x="837724" y="686895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Targeted strategies are essential to nurture high-value customers and uplift low-value segments.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2227" y="565785"/>
            <a:ext cx="8509635" cy="564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Insights: Driving Strategic Decisions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260" y="1520726"/>
            <a:ext cx="288012" cy="2880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6353" y="1514832"/>
            <a:ext cx="2473047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Concentration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296353" y="1912382"/>
            <a:ext cx="12661821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mere 10% of customers generate approximately 40% of the total purchase amount, highlighting the importance of high-value retention.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260" y="2609552"/>
            <a:ext cx="288012" cy="288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96353" y="2603659"/>
            <a:ext cx="2259687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VIP Behavior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296353" y="3001208"/>
            <a:ext cx="12661821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VIP customers spend twice as much per transaction and exhibit higher loyalty scores compared to Regular or New customers.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260" y="3698379"/>
            <a:ext cx="288012" cy="2880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96353" y="3692485"/>
            <a:ext cx="2259687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Discount Efficacy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1296353" y="4090035"/>
            <a:ext cx="12661821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Discounted transactions are ~15% larger, suggesting discounts effectively incentivize higher-value purchases rather than just increasing volume.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260" y="4787205"/>
            <a:ext cx="288012" cy="28801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96353" y="4781312"/>
            <a:ext cx="2259687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Returns Analysis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1296353" y="5178862"/>
            <a:ext cx="12661821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Returns are more prevalent among VIPs and customers using both online and in-store channels, warranting specific attention.</a:t>
            </a:r>
            <a:endParaRPr lang="en-US" sz="15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260" y="5876032"/>
            <a:ext cx="288012" cy="28801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96353" y="5870138"/>
            <a:ext cx="2284214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Channel Performance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1296353" y="6267688"/>
            <a:ext cx="12661821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Online shoppers have a slightly higher average basket, while customers using both channels show the highest average CLV.</a:t>
            </a:r>
            <a:endParaRPr lang="en-US" sz="15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260" y="6964859"/>
            <a:ext cx="288012" cy="28801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96353" y="6958965"/>
            <a:ext cx="2259687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Rating Correlation</a:t>
            </a:r>
            <a:endParaRPr lang="en-US" sz="1750" dirty="0"/>
          </a:p>
        </p:txBody>
      </p:sp>
      <p:sp>
        <p:nvSpPr>
          <p:cNvPr id="20" name="Text 12"/>
          <p:cNvSpPr/>
          <p:nvPr/>
        </p:nvSpPr>
        <p:spPr>
          <a:xfrm>
            <a:off x="1296353" y="7356515"/>
            <a:ext cx="12661821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 ratings correlate with elevated loyalty and CLV, whereas low ratings are linked to increased return rates.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317" y="608290"/>
            <a:ext cx="9542383" cy="529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Strategic Recommendations: Actions for Growth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810458" y="1768197"/>
            <a:ext cx="180023" cy="810339"/>
          </a:xfrm>
          <a:prstGeom prst="roundRect">
            <a:avLst>
              <a:gd name="adj" fmla="val 15008"/>
            </a:avLst>
          </a:prstGeom>
          <a:solidFill>
            <a:srgbClr val="444752"/>
          </a:solidFill>
          <a:ln/>
        </p:spPr>
      </p:sp>
      <p:sp>
        <p:nvSpPr>
          <p:cNvPr id="4" name="Shape 2"/>
          <p:cNvSpPr/>
          <p:nvPr/>
        </p:nvSpPr>
        <p:spPr>
          <a:xfrm>
            <a:off x="630317" y="1649968"/>
            <a:ext cx="540306" cy="540306"/>
          </a:xfrm>
          <a:prstGeom prst="roundRect">
            <a:avLst>
              <a:gd name="adj" fmla="val 84619"/>
            </a:avLst>
          </a:prstGeom>
          <a:solidFill>
            <a:srgbClr val="44475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5334" y="1784985"/>
            <a:ext cx="270153" cy="2701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50645" y="1678067"/>
            <a:ext cx="2118955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Boost CLV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350645" y="2050971"/>
            <a:ext cx="12649438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Target Regular/New customers with personalized offers in high-margin categories and promote multi-channel shopping to increase their lifetime value.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80611" y="3028831"/>
            <a:ext cx="180023" cy="810339"/>
          </a:xfrm>
          <a:prstGeom prst="roundRect">
            <a:avLst>
              <a:gd name="adj" fmla="val 15008"/>
            </a:avLst>
          </a:prstGeom>
          <a:solidFill>
            <a:srgbClr val="444752"/>
          </a:solidFill>
          <a:ln/>
        </p:spPr>
      </p:sp>
      <p:sp>
        <p:nvSpPr>
          <p:cNvPr id="9" name="Shape 6"/>
          <p:cNvSpPr/>
          <p:nvPr/>
        </p:nvSpPr>
        <p:spPr>
          <a:xfrm>
            <a:off x="900470" y="2910602"/>
            <a:ext cx="540306" cy="540306"/>
          </a:xfrm>
          <a:prstGeom prst="roundRect">
            <a:avLst>
              <a:gd name="adj" fmla="val 84619"/>
            </a:avLst>
          </a:prstGeom>
          <a:solidFill>
            <a:srgbClr val="44475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5487" y="3045619"/>
            <a:ext cx="270153" cy="27015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20798" y="2938701"/>
            <a:ext cx="2118955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Reduce Returns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1620798" y="3311604"/>
            <a:ext cx="12379285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Analyze return patterns within the 'Toys' segment and among VIPs; implement stricter quality checks and clearer return policies for high-value items.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1350764" y="4289465"/>
            <a:ext cx="180023" cy="810339"/>
          </a:xfrm>
          <a:prstGeom prst="roundRect">
            <a:avLst>
              <a:gd name="adj" fmla="val 15008"/>
            </a:avLst>
          </a:prstGeom>
          <a:solidFill>
            <a:srgbClr val="444752"/>
          </a:solidFill>
          <a:ln/>
        </p:spPr>
      </p:sp>
      <p:sp>
        <p:nvSpPr>
          <p:cNvPr id="14" name="Shape 10"/>
          <p:cNvSpPr/>
          <p:nvPr/>
        </p:nvSpPr>
        <p:spPr>
          <a:xfrm>
            <a:off x="1170623" y="4171236"/>
            <a:ext cx="540306" cy="540306"/>
          </a:xfrm>
          <a:prstGeom prst="roundRect">
            <a:avLst>
              <a:gd name="adj" fmla="val 84619"/>
            </a:avLst>
          </a:prstGeom>
          <a:solidFill>
            <a:srgbClr val="44475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05639" y="4306253"/>
            <a:ext cx="270153" cy="27015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90951" y="4199334"/>
            <a:ext cx="2118955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Improve Rating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1890951" y="4572238"/>
            <a:ext cx="12109133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Conduct follow-up surveys for low-rated customers (1-2 stars), especially those who returned items, to identify and address pain points effectively.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1620917" y="5550098"/>
            <a:ext cx="180023" cy="810339"/>
          </a:xfrm>
          <a:prstGeom prst="roundRect">
            <a:avLst>
              <a:gd name="adj" fmla="val 15008"/>
            </a:avLst>
          </a:prstGeom>
          <a:solidFill>
            <a:srgbClr val="444752"/>
          </a:solidFill>
          <a:ln/>
        </p:spPr>
      </p:sp>
      <p:sp>
        <p:nvSpPr>
          <p:cNvPr id="19" name="Shape 14"/>
          <p:cNvSpPr/>
          <p:nvPr/>
        </p:nvSpPr>
        <p:spPr>
          <a:xfrm>
            <a:off x="1440775" y="5431869"/>
            <a:ext cx="540306" cy="540306"/>
          </a:xfrm>
          <a:prstGeom prst="roundRect">
            <a:avLst>
              <a:gd name="adj" fmla="val 84619"/>
            </a:avLst>
          </a:prstGeom>
          <a:solidFill>
            <a:srgbClr val="444752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75792" y="5566886"/>
            <a:ext cx="270153" cy="27015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161103" y="5459968"/>
            <a:ext cx="2118955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Optimize Discounts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2161103" y="5832872"/>
            <a:ext cx="11838980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Shift discount allocation towards loyal customers with lower basket sizes to increase frequency without eroding margins on already high-spending VIPs.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1350764" y="6810732"/>
            <a:ext cx="180023" cy="810339"/>
          </a:xfrm>
          <a:prstGeom prst="roundRect">
            <a:avLst>
              <a:gd name="adj" fmla="val 15008"/>
            </a:avLst>
          </a:prstGeom>
          <a:solidFill>
            <a:srgbClr val="444752"/>
          </a:solidFill>
          <a:ln/>
        </p:spPr>
      </p:sp>
      <p:sp>
        <p:nvSpPr>
          <p:cNvPr id="24" name="Shape 18"/>
          <p:cNvSpPr/>
          <p:nvPr/>
        </p:nvSpPr>
        <p:spPr>
          <a:xfrm>
            <a:off x="1170623" y="6692503"/>
            <a:ext cx="540306" cy="540306"/>
          </a:xfrm>
          <a:prstGeom prst="roundRect">
            <a:avLst>
              <a:gd name="adj" fmla="val 84619"/>
            </a:avLst>
          </a:prstGeom>
          <a:solidFill>
            <a:srgbClr val="444752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05639" y="6827520"/>
            <a:ext cx="270153" cy="27015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890951" y="6720602"/>
            <a:ext cx="2118955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Channel Strategy</a:t>
            </a:r>
            <a:endParaRPr lang="en-US" sz="1650" dirty="0"/>
          </a:p>
        </p:txBody>
      </p:sp>
      <p:sp>
        <p:nvSpPr>
          <p:cNvPr id="27" name="Text 20"/>
          <p:cNvSpPr/>
          <p:nvPr/>
        </p:nvSpPr>
        <p:spPr>
          <a:xfrm>
            <a:off x="1890951" y="7093506"/>
            <a:ext cx="12109133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Encourage in-store shoppers to adopt online or hybrid (click-and-collect) channels to elevate their average spend and loyalty.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1020</Words>
  <Application>Microsoft Office PowerPoint</Application>
  <PresentationFormat>Custom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Source Sans 3</vt:lpstr>
      <vt:lpstr>Lora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Kapil Varshney</cp:lastModifiedBy>
  <cp:revision>2</cp:revision>
  <dcterms:created xsi:type="dcterms:W3CDTF">2025-12-07T09:58:27Z</dcterms:created>
  <dcterms:modified xsi:type="dcterms:W3CDTF">2025-12-07T10:00:07Z</dcterms:modified>
</cp:coreProperties>
</file>