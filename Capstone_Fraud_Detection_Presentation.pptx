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561" r:id="rId5"/>
    <p:sldId id="2562" r:id="rId6"/>
    <p:sldId id="2563" r:id="rId7"/>
    <p:sldId id="2564" r:id="rId8"/>
    <p:sldId id="2565" r:id="rId9"/>
    <p:sldId id="2566" r:id="rId10"/>
    <p:sldId id="2575" r:id="rId11"/>
    <p:sldId id="2576" r:id="rId12"/>
    <p:sldId id="2577" r:id="rId13"/>
    <p:sldId id="2567" r:id="rId14"/>
    <p:sldId id="2579" r:id="rId15"/>
    <p:sldId id="2578" r:id="rId16"/>
    <p:sldId id="2584" r:id="rId17"/>
    <p:sldId id="2568" r:id="rId18"/>
    <p:sldId id="2585" r:id="rId19"/>
    <p:sldId id="2586" r:id="rId20"/>
    <p:sldId id="2583" r:id="rId21"/>
    <p:sldId id="2569" r:id="rId22"/>
    <p:sldId id="2570" r:id="rId23"/>
    <p:sldId id="2571" r:id="rId24"/>
    <p:sldId id="2582" r:id="rId25"/>
    <p:sldId id="2572" r:id="rId26"/>
    <p:sldId id="2573" r:id="rId27"/>
    <p:sldId id="2574" r:id="rId28"/>
    <p:sldId id="25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ud Detection System for JPMorgan Chase – Capstone Project" id="{C90349D1-D9E6-44D4-A63D-6A984E1DFAF7}">
          <p14:sldIdLst>
            <p14:sldId id="2561"/>
          </p14:sldIdLst>
        </p14:section>
        <p14:section name="Introduction and Problem Statement" id="{01E5A0E6-1184-43FA-BCEA-13FAFE74E12A}">
          <p14:sldIdLst>
            <p14:sldId id="2562"/>
            <p14:sldId id="2563"/>
          </p14:sldIdLst>
        </p14:section>
        <p14:section name="Project Objectives and Data Preprocessing" id="{887A5D7D-5A13-4686-8D27-A0C9DF808B42}">
          <p14:sldIdLst>
            <p14:sldId id="2564"/>
            <p14:sldId id="2565"/>
            <p14:sldId id="2566"/>
            <p14:sldId id="2575"/>
            <p14:sldId id="2576"/>
            <p14:sldId id="2577"/>
          </p14:sldIdLst>
        </p14:section>
        <p14:section name="Exploratory Data Analysis and Model Development" id="{4DB0F377-A099-4346-99B9-8B42B57E3E3E}">
          <p14:sldIdLst>
            <p14:sldId id="2567"/>
            <p14:sldId id="2579"/>
            <p14:sldId id="2578"/>
            <p14:sldId id="2584"/>
            <p14:sldId id="2568"/>
            <p14:sldId id="2585"/>
            <p14:sldId id="2586"/>
            <p14:sldId id="2583"/>
            <p14:sldId id="2569"/>
          </p14:sldIdLst>
        </p14:section>
        <p14:section name="Model Performance and Recommendations" id="{EA9A1443-281F-420E-B76B-B47086823E64}">
          <p14:sldIdLst>
            <p14:sldId id="2570"/>
            <p14:sldId id="2571"/>
            <p14:sldId id="2582"/>
            <p14:sldId id="2572"/>
          </p14:sldIdLst>
        </p14:section>
        <p14:section name="Conclusion" id="{C34BD562-885C-4B0D-AFB1-7C82EF1E4546}">
          <p14:sldIdLst>
            <p14:sldId id="2573"/>
            <p14:sldId id="2574"/>
            <p14:sldId id="25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1AA87-094E-4950-AEA7-33F158BC0552}" v="14" dt="2025-12-06T11:03:07.200"/>
    <p1510:client id="{DA63CCE3-F0DF-D7D6-1469-2DBB2CB03813}" v="3507" dt="2025-12-07T03:48:02.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627EEA-007C-4B6C-9E92-CD356D3800D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AB9C5D7-A822-4DFF-87C6-F55F0605E3FE}">
      <dgm:prSet custT="0"/>
      <dgm:spPr/>
      <dgm:t>
        <a:bodyPr/>
        <a:lstStyle/>
        <a:p>
          <a:pPr>
            <a:lnSpc>
              <a:spcPct val="100000"/>
            </a:lnSpc>
            <a:defRPr b="1"/>
          </a:pPr>
          <a:r>
            <a:rPr lang="en-US" b="1" dirty="0"/>
            <a:t>Data Ingestion &amp; Preprocessing</a:t>
          </a:r>
          <a:endParaRPr lang="en-US" dirty="0">
            <a:latin typeface="Avenir Next LT Pro"/>
          </a:endParaRPr>
        </a:p>
      </dgm:t>
    </dgm:pt>
    <dgm:pt modelId="{19120D07-3F54-4410-977D-6E9FBE4BCA47}" type="parTrans" cxnId="{E8B48F80-2141-4E29-BD57-B87A7DC6A1A6}">
      <dgm:prSet/>
      <dgm:spPr/>
      <dgm:t>
        <a:bodyPr/>
        <a:lstStyle/>
        <a:p>
          <a:endParaRPr lang="en-US"/>
        </a:p>
      </dgm:t>
    </dgm:pt>
    <dgm:pt modelId="{F8A30F15-E078-49F7-B17E-E83CB3F121B0}" type="sibTrans" cxnId="{E8B48F80-2141-4E29-BD57-B87A7DC6A1A6}">
      <dgm:prSet/>
      <dgm:spPr/>
      <dgm:t>
        <a:bodyPr/>
        <a:lstStyle/>
        <a:p>
          <a:pPr>
            <a:lnSpc>
              <a:spcPct val="100000"/>
            </a:lnSpc>
            <a:defRPr b="1"/>
          </a:pPr>
          <a:endParaRPr lang="en-US"/>
        </a:p>
      </dgm:t>
    </dgm:pt>
    <dgm:pt modelId="{2B994BFC-2697-4148-9EC0-F735D639F81D}">
      <dgm:prSet phldr="0"/>
      <dgm:spPr/>
      <dgm:t>
        <a:bodyPr/>
        <a:lstStyle/>
        <a:p>
          <a:pPr>
            <a:lnSpc>
              <a:spcPct val="100000"/>
            </a:lnSpc>
            <a:defRPr b="1"/>
          </a:pPr>
          <a:r>
            <a:rPr lang="en-US" b="0" dirty="0">
              <a:latin typeface="Avenir Next LT Pro"/>
            </a:rPr>
            <a:t>EDA</a:t>
          </a:r>
          <a:endParaRPr lang="en-US" b="0" dirty="0"/>
        </a:p>
      </dgm:t>
    </dgm:pt>
    <dgm:pt modelId="{25B7F09B-D2F3-47F5-A1EB-A0DF08F67C2C}" type="parTrans" cxnId="{A8AEF486-3167-484D-9E0B-9CC1EF12BC91}">
      <dgm:prSet/>
      <dgm:spPr/>
      <dgm:t>
        <a:bodyPr/>
        <a:lstStyle/>
        <a:p>
          <a:endParaRPr lang="en-US"/>
        </a:p>
      </dgm:t>
    </dgm:pt>
    <dgm:pt modelId="{0B1E7D62-2847-4976-A88A-F29C95E36045}" type="sibTrans" cxnId="{A8AEF486-3167-484D-9E0B-9CC1EF12BC91}">
      <dgm:prSet/>
      <dgm:spPr/>
      <dgm:t>
        <a:bodyPr/>
        <a:lstStyle/>
        <a:p>
          <a:pPr>
            <a:lnSpc>
              <a:spcPct val="100000"/>
            </a:lnSpc>
            <a:defRPr b="1"/>
          </a:pPr>
          <a:endParaRPr lang="en-US"/>
        </a:p>
      </dgm:t>
    </dgm:pt>
    <dgm:pt modelId="{2F94512C-169F-478B-9F7B-AE81AFABAE2F}">
      <dgm:prSet phldr="0"/>
      <dgm:spPr/>
      <dgm:t>
        <a:bodyPr/>
        <a:lstStyle/>
        <a:p>
          <a:pPr>
            <a:lnSpc>
              <a:spcPct val="100000"/>
            </a:lnSpc>
          </a:pPr>
          <a:r>
            <a:rPr lang="en-US" dirty="0">
              <a:latin typeface="Avenir Next LT Pro"/>
            </a:rPr>
            <a:t>EDA on the existing dataset is crucial as number of rows are very high 6M.</a:t>
          </a:r>
          <a:endParaRPr lang="en-US" dirty="0"/>
        </a:p>
      </dgm:t>
    </dgm:pt>
    <dgm:pt modelId="{795B7A83-AA0A-4357-AA3C-F85257E01719}" type="parTrans" cxnId="{9A9B494B-EF28-49BB-8180-3D76F385BEEE}">
      <dgm:prSet/>
      <dgm:spPr/>
      <dgm:t>
        <a:bodyPr/>
        <a:lstStyle/>
        <a:p>
          <a:endParaRPr lang="en-US"/>
        </a:p>
      </dgm:t>
    </dgm:pt>
    <dgm:pt modelId="{963A116B-0E67-4AA6-BBEA-14EE62035DDB}" type="sibTrans" cxnId="{9A9B494B-EF28-49BB-8180-3D76F385BEEE}">
      <dgm:prSet/>
      <dgm:spPr/>
      <dgm:t>
        <a:bodyPr/>
        <a:lstStyle/>
        <a:p>
          <a:endParaRPr lang="en-US"/>
        </a:p>
      </dgm:t>
    </dgm:pt>
    <dgm:pt modelId="{E34EFF9A-0C6F-4E54-86E8-440EB76AACD4}">
      <dgm:prSet/>
      <dgm:spPr/>
      <dgm:t>
        <a:bodyPr/>
        <a:lstStyle/>
        <a:p>
          <a:pPr>
            <a:lnSpc>
              <a:spcPct val="100000"/>
            </a:lnSpc>
            <a:defRPr b="1"/>
          </a:pPr>
          <a:r>
            <a:rPr lang="en-US" dirty="0"/>
            <a:t>Visualization &amp; Reporting</a:t>
          </a:r>
          <a:endParaRPr lang="en-US" b="0" dirty="0"/>
        </a:p>
      </dgm:t>
    </dgm:pt>
    <dgm:pt modelId="{9B6C4485-F34F-477A-802A-4F6275F341E0}" type="parTrans" cxnId="{ED3A213D-B9B8-4721-B5EC-AD3E86C0FA55}">
      <dgm:prSet/>
      <dgm:spPr/>
      <dgm:t>
        <a:bodyPr/>
        <a:lstStyle/>
        <a:p>
          <a:endParaRPr lang="en-US"/>
        </a:p>
      </dgm:t>
    </dgm:pt>
    <dgm:pt modelId="{2501958A-16A3-4604-A4FA-3730B5A68923}" type="sibTrans" cxnId="{ED3A213D-B9B8-4721-B5EC-AD3E86C0FA55}">
      <dgm:prSet/>
      <dgm:spPr/>
      <dgm:t>
        <a:bodyPr/>
        <a:lstStyle/>
        <a:p>
          <a:pPr>
            <a:lnSpc>
              <a:spcPct val="100000"/>
            </a:lnSpc>
            <a:defRPr b="1"/>
          </a:pPr>
          <a:endParaRPr lang="en-US"/>
        </a:p>
      </dgm:t>
    </dgm:pt>
    <dgm:pt modelId="{10ED0329-EE24-4BDE-904E-697684119A99}">
      <dgm:prSet/>
      <dgm:spPr/>
      <dgm:t>
        <a:bodyPr/>
        <a:lstStyle/>
        <a:p>
          <a:pPr>
            <a:lnSpc>
              <a:spcPct val="100000"/>
            </a:lnSpc>
          </a:pPr>
          <a:r>
            <a:rPr lang="en-US" dirty="0">
              <a:latin typeface="Avenir Next LT Pro"/>
            </a:rPr>
            <a:t>Interactive</a:t>
          </a:r>
          <a:r>
            <a:rPr lang="en-US" dirty="0"/>
            <a:t> </a:t>
          </a:r>
          <a:r>
            <a:rPr lang="en-US" dirty="0">
              <a:latin typeface="Avenir Next LT Pro"/>
            </a:rPr>
            <a:t>Power BI </a:t>
          </a:r>
          <a:r>
            <a:rPr lang="en-US" dirty="0"/>
            <a:t>dashboards and reports to track fraudulent activities and transaction trends effectively.</a:t>
          </a:r>
        </a:p>
      </dgm:t>
    </dgm:pt>
    <dgm:pt modelId="{FCFDAF97-E2F0-4875-BD48-0AC77FA1D75F}" type="parTrans" cxnId="{566B9ABC-F2D0-45AB-91A0-3E8000FDE6E8}">
      <dgm:prSet/>
      <dgm:spPr/>
      <dgm:t>
        <a:bodyPr/>
        <a:lstStyle/>
        <a:p>
          <a:endParaRPr lang="en-US"/>
        </a:p>
      </dgm:t>
    </dgm:pt>
    <dgm:pt modelId="{4DE877C5-245D-427C-85A5-A976DBB25B5D}" type="sibTrans" cxnId="{566B9ABC-F2D0-45AB-91A0-3E8000FDE6E8}">
      <dgm:prSet/>
      <dgm:spPr/>
      <dgm:t>
        <a:bodyPr/>
        <a:lstStyle/>
        <a:p>
          <a:endParaRPr lang="en-US"/>
        </a:p>
      </dgm:t>
    </dgm:pt>
    <dgm:pt modelId="{6469C708-AFAC-489E-91E3-1B299177D2F5}">
      <dgm:prSet/>
      <dgm:spPr/>
      <dgm:t>
        <a:bodyPr/>
        <a:lstStyle/>
        <a:p>
          <a:pPr>
            <a:lnSpc>
              <a:spcPct val="100000"/>
            </a:lnSpc>
            <a:defRPr b="1"/>
          </a:pPr>
          <a:r>
            <a:rPr lang="en-US" dirty="0"/>
            <a:t>Model Evaluation &amp; Optimization</a:t>
          </a:r>
        </a:p>
      </dgm:t>
    </dgm:pt>
    <dgm:pt modelId="{3E6C52F5-CF1C-451C-9C31-4F73BCCEF105}" type="parTrans" cxnId="{3799D3AA-11B9-49B8-A03C-D95543E5F750}">
      <dgm:prSet/>
      <dgm:spPr/>
      <dgm:t>
        <a:bodyPr/>
        <a:lstStyle/>
        <a:p>
          <a:endParaRPr lang="en-US"/>
        </a:p>
      </dgm:t>
    </dgm:pt>
    <dgm:pt modelId="{020BE06C-BEB5-440C-987A-622E5F652119}" type="sibTrans" cxnId="{3799D3AA-11B9-49B8-A03C-D95543E5F750}">
      <dgm:prSet/>
      <dgm:spPr/>
      <dgm:t>
        <a:bodyPr/>
        <a:lstStyle/>
        <a:p>
          <a:pPr>
            <a:lnSpc>
              <a:spcPct val="100000"/>
            </a:lnSpc>
            <a:defRPr b="1"/>
          </a:pPr>
          <a:endParaRPr lang="en-US"/>
        </a:p>
      </dgm:t>
    </dgm:pt>
    <dgm:pt modelId="{094CD091-CF41-45A5-A7FA-9397C0E5D0AE}">
      <dgm:prSet/>
      <dgm:spPr/>
      <dgm:t>
        <a:bodyPr/>
        <a:lstStyle/>
        <a:p>
          <a:pPr>
            <a:lnSpc>
              <a:spcPct val="100000"/>
            </a:lnSpc>
          </a:pPr>
          <a:r>
            <a:rPr lang="en-US" dirty="0"/>
            <a:t>Evaluate multiple models, tune parameters, and deploy the optimal model for continuous fraud monitoring.</a:t>
          </a:r>
        </a:p>
      </dgm:t>
    </dgm:pt>
    <dgm:pt modelId="{92148ED5-F9DF-4C96-93CC-A2FA786CC56A}" type="parTrans" cxnId="{2F4DFF98-DE03-48AF-A51D-2C5CBF145025}">
      <dgm:prSet/>
      <dgm:spPr/>
      <dgm:t>
        <a:bodyPr/>
        <a:lstStyle/>
        <a:p>
          <a:endParaRPr lang="en-US"/>
        </a:p>
      </dgm:t>
    </dgm:pt>
    <dgm:pt modelId="{00ECAE49-0F3C-487E-A130-C928160474D8}" type="sibTrans" cxnId="{2F4DFF98-DE03-48AF-A51D-2C5CBF145025}">
      <dgm:prSet/>
      <dgm:spPr/>
      <dgm:t>
        <a:bodyPr/>
        <a:lstStyle/>
        <a:p>
          <a:endParaRPr lang="en-US"/>
        </a:p>
      </dgm:t>
    </dgm:pt>
    <dgm:pt modelId="{2559F312-CC8F-4CC5-8CDE-733020785F50}">
      <dgm:prSet phldr="0"/>
      <dgm:spPr/>
      <dgm:t>
        <a:bodyPr/>
        <a:lstStyle/>
        <a:p>
          <a:pPr>
            <a:lnSpc>
              <a:spcPct val="100000"/>
            </a:lnSpc>
          </a:pPr>
          <a:r>
            <a:rPr lang="en-US" b="0" dirty="0">
              <a:latin typeface="Avenir Next LT Pro"/>
            </a:rPr>
            <a:t>Outlier detection is important.</a:t>
          </a:r>
        </a:p>
      </dgm:t>
    </dgm:pt>
    <dgm:pt modelId="{F0C5D9A9-0996-4625-9FA1-A0F41DD14658}" type="parTrans" cxnId="{1B638493-9F30-45EC-AF63-AA17B0C9782E}">
      <dgm:prSet/>
      <dgm:spPr/>
    </dgm:pt>
    <dgm:pt modelId="{0FBB3A7B-6C72-4495-A39B-4D63B9C70248}" type="sibTrans" cxnId="{1B638493-9F30-45EC-AF63-AA17B0C9782E}">
      <dgm:prSet/>
      <dgm:spPr/>
    </dgm:pt>
    <dgm:pt modelId="{ACD0EB0C-7C98-4AA2-94B7-A6E5E6538984}">
      <dgm:prSet phldr="0"/>
      <dgm:spPr/>
      <dgm:t>
        <a:bodyPr/>
        <a:lstStyle/>
        <a:p>
          <a:pPr>
            <a:lnSpc>
              <a:spcPct val="100000"/>
            </a:lnSpc>
          </a:pPr>
          <a:r>
            <a:rPr lang="en-US" b="0" dirty="0">
              <a:latin typeface="Avenir Next LT Pro"/>
            </a:rPr>
            <a:t> Storing data and model in format useful for future analysis and use.</a:t>
          </a:r>
        </a:p>
      </dgm:t>
    </dgm:pt>
    <dgm:pt modelId="{CA707AEB-2F84-4D8C-A6A6-92B551D44D7D}" type="parTrans" cxnId="{375166BC-0CC9-4C3D-BACC-044FBC5FDA6A}">
      <dgm:prSet/>
      <dgm:spPr/>
    </dgm:pt>
    <dgm:pt modelId="{334A92A4-FE60-49B8-9EAF-DE13A9F5EAC7}" type="sibTrans" cxnId="{375166BC-0CC9-4C3D-BACC-044FBC5FDA6A}">
      <dgm:prSet/>
      <dgm:spPr/>
    </dgm:pt>
    <dgm:pt modelId="{E5223D4D-5996-48C4-A887-1A483104079A}">
      <dgm:prSet phldr="0"/>
      <dgm:spPr/>
      <dgm:t>
        <a:bodyPr/>
        <a:lstStyle/>
        <a:p>
          <a:pPr>
            <a:lnSpc>
              <a:spcPct val="100000"/>
            </a:lnSpc>
          </a:pPr>
          <a:r>
            <a:rPr lang="en-US" b="0" dirty="0">
              <a:latin typeface="Avenir Next LT Pro"/>
            </a:rPr>
            <a:t> Transformation to log values to get distribution understanding.</a:t>
          </a:r>
        </a:p>
      </dgm:t>
    </dgm:pt>
    <dgm:pt modelId="{13FBDC93-B786-4C2B-A856-C0CC5C259E67}" type="parTrans" cxnId="{8298FEC5-13B6-4B43-892C-827BE871C596}">
      <dgm:prSet/>
      <dgm:spPr/>
    </dgm:pt>
    <dgm:pt modelId="{2DFD86E9-0E3B-48D8-AB20-F0AB4E9BDDED}" type="sibTrans" cxnId="{8298FEC5-13B6-4B43-892C-827BE871C596}">
      <dgm:prSet/>
      <dgm:spPr/>
    </dgm:pt>
    <dgm:pt modelId="{FF5F3B23-307F-45C4-B546-2751212F1714}">
      <dgm:prSet phldr="0"/>
      <dgm:spPr/>
      <dgm:t>
        <a:bodyPr/>
        <a:lstStyle/>
        <a:p>
          <a:pPr>
            <a:lnSpc>
              <a:spcPct val="100000"/>
            </a:lnSpc>
          </a:pPr>
          <a:r>
            <a:rPr lang="en-US" dirty="0">
              <a:latin typeface="Avenir Next LT Pro"/>
            </a:rPr>
            <a:t>Understand importance of Hybrid Models.</a:t>
          </a:r>
        </a:p>
      </dgm:t>
    </dgm:pt>
    <dgm:pt modelId="{5CF87814-EB7B-402C-BA42-72D5A03E36BC}" type="parTrans" cxnId="{1540169A-B760-4DF8-8ACE-F62E9DDBC337}">
      <dgm:prSet/>
      <dgm:spPr/>
    </dgm:pt>
    <dgm:pt modelId="{17EA9851-5000-46B5-9011-5F5347B10051}" type="sibTrans" cxnId="{1540169A-B760-4DF8-8ACE-F62E9DDBC337}">
      <dgm:prSet/>
      <dgm:spPr/>
    </dgm:pt>
    <dgm:pt modelId="{392510CD-A01B-4EBB-9804-B49F966D2C69}">
      <dgm:prSet phldr="0"/>
      <dgm:spPr/>
      <dgm:t>
        <a:bodyPr/>
        <a:lstStyle/>
        <a:p>
          <a:pPr>
            <a:lnSpc>
              <a:spcPct val="100000"/>
            </a:lnSpc>
          </a:pPr>
          <a:r>
            <a:rPr lang="en-US" b="0" dirty="0">
              <a:latin typeface="Avenir Next LT Pro"/>
            </a:rPr>
            <a:t> Helping features to provide more insight.</a:t>
          </a:r>
        </a:p>
      </dgm:t>
    </dgm:pt>
    <dgm:pt modelId="{C452D5B1-1E7B-45FA-8EF2-9FB919B6C786}" type="parTrans" cxnId="{600FC7D2-51C3-4570-8BDB-50896D55DE29}">
      <dgm:prSet/>
      <dgm:spPr/>
    </dgm:pt>
    <dgm:pt modelId="{7321A26A-3D0B-4B23-813B-A5B65FA760E1}" type="sibTrans" cxnId="{600FC7D2-51C3-4570-8BDB-50896D55DE29}">
      <dgm:prSet/>
      <dgm:spPr/>
    </dgm:pt>
    <dgm:pt modelId="{542D35BE-E144-406B-93A7-1F2B2A9502D8}">
      <dgm:prSet phldr="0"/>
      <dgm:spPr/>
      <dgm:t>
        <a:bodyPr/>
        <a:lstStyle/>
        <a:p>
          <a:pPr>
            <a:lnSpc>
              <a:spcPct val="100000"/>
            </a:lnSpc>
          </a:pPr>
          <a:r>
            <a:rPr lang="en-US" b="0" dirty="0">
              <a:latin typeface="Avenir Next LT Pro"/>
            </a:rPr>
            <a:t>Direct Visualization from Parquet file saved from post feature engineering dataset.</a:t>
          </a:r>
        </a:p>
      </dgm:t>
    </dgm:pt>
    <dgm:pt modelId="{44E99D4F-3DBC-4082-AC1A-900989C4E1D8}" type="parTrans" cxnId="{23561551-9C9C-4094-A4C5-27F9C56FC3C4}">
      <dgm:prSet/>
      <dgm:spPr/>
    </dgm:pt>
    <dgm:pt modelId="{48F2735A-75F9-44BA-AE66-0C9FF83F8929}" type="sibTrans" cxnId="{23561551-9C9C-4094-A4C5-27F9C56FC3C4}">
      <dgm:prSet/>
      <dgm:spPr/>
    </dgm:pt>
    <dgm:pt modelId="{B7DC5F4C-1406-4CF9-B0CC-226A5126B94F}">
      <dgm:prSet phldr="0"/>
      <dgm:spPr/>
      <dgm:t>
        <a:bodyPr/>
        <a:lstStyle/>
        <a:p>
          <a:pPr>
            <a:lnSpc>
              <a:spcPct val="100000"/>
            </a:lnSpc>
          </a:pPr>
          <a:endParaRPr lang="en-US" dirty="0">
            <a:latin typeface="Avenir Next LT Pro"/>
          </a:endParaRPr>
        </a:p>
      </dgm:t>
    </dgm:pt>
    <dgm:pt modelId="{7B752B87-DE61-4EFA-A8FD-6E51296A17B6}" type="parTrans" cxnId="{4BEF8047-3833-4694-A33E-6971F24DCFFE}">
      <dgm:prSet/>
      <dgm:spPr/>
    </dgm:pt>
    <dgm:pt modelId="{E644DFA1-0B2C-47F6-9B2F-83357BB9CFEE}" type="sibTrans" cxnId="{4BEF8047-3833-4694-A33E-6971F24DCFFE}">
      <dgm:prSet/>
      <dgm:spPr/>
    </dgm:pt>
    <dgm:pt modelId="{0EE37CBB-5F53-4FDD-A77D-B2230EC7BB19}">
      <dgm:prSet phldr="0"/>
      <dgm:spPr/>
      <dgm:t>
        <a:bodyPr/>
        <a:lstStyle/>
        <a:p>
          <a:pPr>
            <a:lnSpc>
              <a:spcPct val="100000"/>
            </a:lnSpc>
          </a:pPr>
          <a:endParaRPr lang="en-US" dirty="0">
            <a:latin typeface="Avenir Next LT Pro"/>
          </a:endParaRPr>
        </a:p>
      </dgm:t>
    </dgm:pt>
    <dgm:pt modelId="{B9B967AE-0D1C-42E0-A0A6-65542674AF91}" type="parTrans" cxnId="{1234DC00-FF35-4FDC-B41C-53A55A185E22}">
      <dgm:prSet/>
      <dgm:spPr/>
    </dgm:pt>
    <dgm:pt modelId="{346C1F30-AB59-45D4-BBE2-51B9909FE0E5}" type="sibTrans" cxnId="{1234DC00-FF35-4FDC-B41C-53A55A185E22}">
      <dgm:prSet/>
      <dgm:spPr/>
    </dgm:pt>
    <dgm:pt modelId="{050BE72A-2E75-413C-946F-7F35F5626DB2}">
      <dgm:prSet phldr="0"/>
      <dgm:spPr/>
      <dgm:t>
        <a:bodyPr/>
        <a:lstStyle/>
        <a:p>
          <a:pPr>
            <a:lnSpc>
              <a:spcPct val="100000"/>
            </a:lnSpc>
          </a:pPr>
          <a:endParaRPr lang="en-US" dirty="0">
            <a:latin typeface="Avenir Next LT Pro"/>
          </a:endParaRPr>
        </a:p>
      </dgm:t>
    </dgm:pt>
    <dgm:pt modelId="{1C565FEF-C8C6-4518-A209-F2286D1729F3}" type="parTrans" cxnId="{6E741E63-7572-4FA6-A805-1F4C77C12BA7}">
      <dgm:prSet/>
      <dgm:spPr/>
    </dgm:pt>
    <dgm:pt modelId="{A1673F8F-9307-4EE2-9E65-9BECFA2F5C07}" type="sibTrans" cxnId="{6E741E63-7572-4FA6-A805-1F4C77C12BA7}">
      <dgm:prSet/>
      <dgm:spPr/>
    </dgm:pt>
    <dgm:pt modelId="{9EC2F38E-3C7A-4C02-9024-297D4F12CAC4}">
      <dgm:prSet phldr="0"/>
      <dgm:spPr/>
      <dgm:t>
        <a:bodyPr/>
        <a:lstStyle/>
        <a:p>
          <a:pPr>
            <a:lnSpc>
              <a:spcPct val="100000"/>
            </a:lnSpc>
          </a:pPr>
          <a:r>
            <a:rPr lang="en-US" b="0" dirty="0">
              <a:latin typeface="Avenir Next LT Pro"/>
            </a:rPr>
            <a:t>Collect CSV file and convert it to Parquet file for easy loading.</a:t>
          </a:r>
          <a:endParaRPr lang="en-US" dirty="0"/>
        </a:p>
      </dgm:t>
    </dgm:pt>
    <dgm:pt modelId="{4BF1B602-C377-4511-ACC7-7C299A32D0FC}" type="parTrans" cxnId="{71588684-0285-4727-91E4-5168F9C92FB8}">
      <dgm:prSet/>
      <dgm:spPr/>
    </dgm:pt>
    <dgm:pt modelId="{082DE15E-5525-4B1A-A24F-41E42EF9D52E}" type="sibTrans" cxnId="{71588684-0285-4727-91E4-5168F9C92FB8}">
      <dgm:prSet/>
      <dgm:spPr/>
    </dgm:pt>
    <dgm:pt modelId="{163E5242-47AB-42AA-BCDE-0318F53DBFA2}">
      <dgm:prSet phldr="0"/>
      <dgm:spPr/>
      <dgm:t>
        <a:bodyPr/>
        <a:lstStyle/>
        <a:p>
          <a:pPr rtl="0">
            <a:lnSpc>
              <a:spcPct val="100000"/>
            </a:lnSpc>
          </a:pPr>
          <a:endParaRPr lang="en-US" b="0" dirty="0">
            <a:latin typeface="Avenir Next LT Pro"/>
          </a:endParaRPr>
        </a:p>
      </dgm:t>
    </dgm:pt>
    <dgm:pt modelId="{4D57D102-1DD0-4F9B-9A5C-2345485D2D61}" type="parTrans" cxnId="{5736A317-2674-425E-B7AC-17111BC30D1B}">
      <dgm:prSet/>
      <dgm:spPr/>
    </dgm:pt>
    <dgm:pt modelId="{1349FB47-C992-40F3-A94B-5DB3B29FD7F0}" type="sibTrans" cxnId="{5736A317-2674-425E-B7AC-17111BC30D1B}">
      <dgm:prSet/>
      <dgm:spPr/>
    </dgm:pt>
    <dgm:pt modelId="{967FB8B1-919C-4539-8150-D6142CA085D9}" type="pres">
      <dgm:prSet presAssocID="{37627EEA-007C-4B6C-9E92-CD356D3800D0}" presName="Name0" presStyleCnt="0">
        <dgm:presLayoutVars>
          <dgm:dir/>
          <dgm:resizeHandles val="exact"/>
        </dgm:presLayoutVars>
      </dgm:prSet>
      <dgm:spPr/>
    </dgm:pt>
    <dgm:pt modelId="{C3F6C8DD-F860-4C4E-AB80-D6EF713E308D}" type="pres">
      <dgm:prSet presAssocID="{5AB9C5D7-A822-4DFF-87C6-F55F0605E3FE}" presName="compNode" presStyleCnt="0"/>
      <dgm:spPr/>
    </dgm:pt>
    <dgm:pt modelId="{98EDADCC-337F-4083-B4D3-A782DA0853E3}" type="pres">
      <dgm:prSet presAssocID="{5AB9C5D7-A822-4DFF-87C6-F55F0605E3FE}" presName="pictRect" presStyleLbl="revTx" presStyleIdx="0" presStyleCnt="8">
        <dgm:presLayoutVars>
          <dgm:chMax val="0"/>
          <dgm:bulletEnabled/>
        </dgm:presLayoutVars>
      </dgm:prSet>
      <dgm:spPr/>
    </dgm:pt>
    <dgm:pt modelId="{0FF83638-36CC-4AF6-94F9-19C934BBBF31}" type="pres">
      <dgm:prSet presAssocID="{5AB9C5D7-A822-4DFF-87C6-F55F0605E3FE}" presName="textRect" presStyleLbl="revTx" presStyleIdx="1" presStyleCnt="8">
        <dgm:presLayoutVars>
          <dgm:bulletEnabled/>
        </dgm:presLayoutVars>
      </dgm:prSet>
      <dgm:spPr/>
    </dgm:pt>
    <dgm:pt modelId="{10113EEF-2C9A-4E76-8ACB-7063C718DD0B}" type="pres">
      <dgm:prSet presAssocID="{F8A30F15-E078-49F7-B17E-E83CB3F121B0}" presName="sibTrans" presStyleLbl="sibTrans2D1" presStyleIdx="0" presStyleCnt="0"/>
      <dgm:spPr/>
    </dgm:pt>
    <dgm:pt modelId="{FF91B113-FC56-4E5C-B5CB-BECD488370F0}" type="pres">
      <dgm:prSet presAssocID="{2B994BFC-2697-4148-9EC0-F735D639F81D}" presName="compNode" presStyleCnt="0"/>
      <dgm:spPr/>
    </dgm:pt>
    <dgm:pt modelId="{4C283D49-6DCA-4E4C-BCC3-35531A050E35}" type="pres">
      <dgm:prSet presAssocID="{2B994BFC-2697-4148-9EC0-F735D639F81D}" presName="pictRect" presStyleLbl="revTx" presStyleIdx="2" presStyleCnt="8">
        <dgm:presLayoutVars>
          <dgm:chMax val="0"/>
          <dgm:bulletEnabled/>
        </dgm:presLayoutVars>
      </dgm:prSet>
      <dgm:spPr/>
    </dgm:pt>
    <dgm:pt modelId="{898CABB2-27B1-4188-A5BA-0F62731A4A07}" type="pres">
      <dgm:prSet presAssocID="{2B994BFC-2697-4148-9EC0-F735D639F81D}" presName="textRect" presStyleLbl="revTx" presStyleIdx="3" presStyleCnt="8">
        <dgm:presLayoutVars>
          <dgm:bulletEnabled/>
        </dgm:presLayoutVars>
      </dgm:prSet>
      <dgm:spPr/>
    </dgm:pt>
    <dgm:pt modelId="{93CC1F3F-5F30-42E9-A772-794B0C596D33}" type="pres">
      <dgm:prSet presAssocID="{0B1E7D62-2847-4976-A88A-F29C95E36045}" presName="sibTrans" presStyleLbl="sibTrans2D1" presStyleIdx="0" presStyleCnt="0"/>
      <dgm:spPr/>
    </dgm:pt>
    <dgm:pt modelId="{519837EE-81BF-40E6-9787-D666DC12946F}" type="pres">
      <dgm:prSet presAssocID="{E34EFF9A-0C6F-4E54-86E8-440EB76AACD4}" presName="compNode" presStyleCnt="0"/>
      <dgm:spPr/>
    </dgm:pt>
    <dgm:pt modelId="{24F661A9-7C87-4C5D-8B17-B3761A7D15B1}" type="pres">
      <dgm:prSet presAssocID="{E34EFF9A-0C6F-4E54-86E8-440EB76AACD4}" presName="pictRect" presStyleLbl="revTx" presStyleIdx="4" presStyleCnt="8">
        <dgm:presLayoutVars>
          <dgm:chMax val="0"/>
          <dgm:bulletEnabled/>
        </dgm:presLayoutVars>
      </dgm:prSet>
      <dgm:spPr/>
    </dgm:pt>
    <dgm:pt modelId="{EB4CBB98-8693-4950-A35B-08C3BD48AA15}" type="pres">
      <dgm:prSet presAssocID="{E34EFF9A-0C6F-4E54-86E8-440EB76AACD4}" presName="textRect" presStyleLbl="revTx" presStyleIdx="5" presStyleCnt="8">
        <dgm:presLayoutVars>
          <dgm:bulletEnabled/>
        </dgm:presLayoutVars>
      </dgm:prSet>
      <dgm:spPr/>
    </dgm:pt>
    <dgm:pt modelId="{BFC5E4F7-0D7F-4893-999C-B8E408A034A3}" type="pres">
      <dgm:prSet presAssocID="{2501958A-16A3-4604-A4FA-3730B5A68923}" presName="sibTrans" presStyleLbl="sibTrans2D1" presStyleIdx="0" presStyleCnt="0"/>
      <dgm:spPr/>
    </dgm:pt>
    <dgm:pt modelId="{DA9AC0FC-F6B8-459D-99A5-B842CC2EF8CF}" type="pres">
      <dgm:prSet presAssocID="{6469C708-AFAC-489E-91E3-1B299177D2F5}" presName="compNode" presStyleCnt="0"/>
      <dgm:spPr/>
    </dgm:pt>
    <dgm:pt modelId="{F7EAC961-F89F-4690-AE35-BD5A3F724745}" type="pres">
      <dgm:prSet presAssocID="{6469C708-AFAC-489E-91E3-1B299177D2F5}" presName="pictRect" presStyleLbl="revTx" presStyleIdx="6" presStyleCnt="8">
        <dgm:presLayoutVars>
          <dgm:chMax val="0"/>
          <dgm:bulletEnabled/>
        </dgm:presLayoutVars>
      </dgm:prSet>
      <dgm:spPr/>
    </dgm:pt>
    <dgm:pt modelId="{4C73E254-77D0-4A62-8FBF-8CC76498567F}" type="pres">
      <dgm:prSet presAssocID="{6469C708-AFAC-489E-91E3-1B299177D2F5}" presName="textRect" presStyleLbl="revTx" presStyleIdx="7" presStyleCnt="8">
        <dgm:presLayoutVars>
          <dgm:bulletEnabled/>
        </dgm:presLayoutVars>
      </dgm:prSet>
      <dgm:spPr/>
    </dgm:pt>
  </dgm:ptLst>
  <dgm:cxnLst>
    <dgm:cxn modelId="{1234DC00-FF35-4FDC-B41C-53A55A185E22}" srcId="{E34EFF9A-0C6F-4E54-86E8-440EB76AACD4}" destId="{0EE37CBB-5F53-4FDD-A77D-B2230EC7BB19}" srcOrd="0" destOrd="0" parTransId="{B9B967AE-0D1C-42E0-A0A6-65542674AF91}" sibTransId="{346C1F30-AB59-45D4-BBE2-51B9909FE0E5}"/>
    <dgm:cxn modelId="{3A2A2D09-D087-43D0-B6A7-7A01D891216C}" type="presOf" srcId="{10ED0329-EE24-4BDE-904E-697684119A99}" destId="{EB4CBB98-8693-4950-A35B-08C3BD48AA15}" srcOrd="0" destOrd="1" presId="urn:microsoft.com/office/officeart/2024/3/layout/hArchList1"/>
    <dgm:cxn modelId="{660FFE0C-92BF-4FEF-844C-30D912AC89EF}" type="presOf" srcId="{094CD091-CF41-45A5-A7FA-9397C0E5D0AE}" destId="{4C73E254-77D0-4A62-8FBF-8CC76498567F}" srcOrd="0" destOrd="1" presId="urn:microsoft.com/office/officeart/2024/3/layout/hArchList1"/>
    <dgm:cxn modelId="{5736A317-2674-425E-B7AC-17111BC30D1B}" srcId="{5AB9C5D7-A822-4DFF-87C6-F55F0605E3FE}" destId="{163E5242-47AB-42AA-BCDE-0318F53DBFA2}" srcOrd="0" destOrd="0" parTransId="{4D57D102-1DD0-4F9B-9A5C-2345485D2D61}" sibTransId="{1349FB47-C992-40F3-A94B-5DB3B29FD7F0}"/>
    <dgm:cxn modelId="{B5502739-9074-4F01-AE2B-8A0E2E9837A9}" type="presOf" srcId="{37627EEA-007C-4B6C-9E92-CD356D3800D0}" destId="{967FB8B1-919C-4539-8150-D6142CA085D9}" srcOrd="0" destOrd="0" presId="urn:microsoft.com/office/officeart/2024/3/layout/hArchList1"/>
    <dgm:cxn modelId="{ED3A213D-B9B8-4721-B5EC-AD3E86C0FA55}" srcId="{37627EEA-007C-4B6C-9E92-CD356D3800D0}" destId="{E34EFF9A-0C6F-4E54-86E8-440EB76AACD4}" srcOrd="2" destOrd="0" parTransId="{9B6C4485-F34F-477A-802A-4F6275F341E0}" sibTransId="{2501958A-16A3-4604-A4FA-3730B5A68923}"/>
    <dgm:cxn modelId="{2F421561-20EC-45EA-BD32-277B96CDFDE8}" type="presOf" srcId="{B7DC5F4C-1406-4CF9-B0CC-226A5126B94F}" destId="{898CABB2-27B1-4188-A5BA-0F62731A4A07}" srcOrd="0" destOrd="0" presId="urn:microsoft.com/office/officeart/2024/3/layout/hArchList1"/>
    <dgm:cxn modelId="{6E741E63-7572-4FA6-A805-1F4C77C12BA7}" srcId="{6469C708-AFAC-489E-91E3-1B299177D2F5}" destId="{050BE72A-2E75-413C-946F-7F35F5626DB2}" srcOrd="0" destOrd="0" parTransId="{1C565FEF-C8C6-4518-A209-F2286D1729F3}" sibTransId="{A1673F8F-9307-4EE2-9E65-9BECFA2F5C07}"/>
    <dgm:cxn modelId="{E2467943-6C1E-440A-8605-56CCD85D3F3D}" type="presOf" srcId="{163E5242-47AB-42AA-BCDE-0318F53DBFA2}" destId="{0FF83638-36CC-4AF6-94F9-19C934BBBF31}" srcOrd="0" destOrd="0" presId="urn:microsoft.com/office/officeart/2024/3/layout/hArchList1"/>
    <dgm:cxn modelId="{407EEC45-7528-4F3A-AACE-794A662B29A9}" type="presOf" srcId="{5AB9C5D7-A822-4DFF-87C6-F55F0605E3FE}" destId="{98EDADCC-337F-4083-B4D3-A782DA0853E3}" srcOrd="0" destOrd="0" presId="urn:microsoft.com/office/officeart/2024/3/layout/hArchList1"/>
    <dgm:cxn modelId="{4BEF8047-3833-4694-A33E-6971F24DCFFE}" srcId="{2B994BFC-2697-4148-9EC0-F735D639F81D}" destId="{B7DC5F4C-1406-4CF9-B0CC-226A5126B94F}" srcOrd="0" destOrd="0" parTransId="{7B752B87-DE61-4EFA-A8FD-6E51296A17B6}" sibTransId="{E644DFA1-0B2C-47F6-9B2F-83357BB9CFEE}"/>
    <dgm:cxn modelId="{58CB9A48-DA91-49AA-BBF3-5F6B4D6DF9C3}" type="presOf" srcId="{9EC2F38E-3C7A-4C02-9024-297D4F12CAC4}" destId="{0FF83638-36CC-4AF6-94F9-19C934BBBF31}" srcOrd="0" destOrd="1" presId="urn:microsoft.com/office/officeart/2024/3/layout/hArchList1"/>
    <dgm:cxn modelId="{9A9B494B-EF28-49BB-8180-3D76F385BEEE}" srcId="{2B994BFC-2697-4148-9EC0-F735D639F81D}" destId="{2F94512C-169F-478B-9F7B-AE81AFABAE2F}" srcOrd="1" destOrd="0" parTransId="{795B7A83-AA0A-4357-AA3C-F85257E01719}" sibTransId="{963A116B-0E67-4AA6-BBEA-14EE62035DDB}"/>
    <dgm:cxn modelId="{1B05674E-5DC9-4185-8CFD-E5143A19D4A8}" type="presOf" srcId="{0EE37CBB-5F53-4FDD-A77D-B2230EC7BB19}" destId="{EB4CBB98-8693-4950-A35B-08C3BD48AA15}" srcOrd="0" destOrd="0" presId="urn:microsoft.com/office/officeart/2024/3/layout/hArchList1"/>
    <dgm:cxn modelId="{23561551-9C9C-4094-A4C5-27F9C56FC3C4}" srcId="{E34EFF9A-0C6F-4E54-86E8-440EB76AACD4}" destId="{542D35BE-E144-406B-93A7-1F2B2A9502D8}" srcOrd="2" destOrd="0" parTransId="{44E99D4F-3DBC-4082-AC1A-900989C4E1D8}" sibTransId="{48F2735A-75F9-44BA-AE66-0C9FF83F8929}"/>
    <dgm:cxn modelId="{E8B48F80-2141-4E29-BD57-B87A7DC6A1A6}" srcId="{37627EEA-007C-4B6C-9E92-CD356D3800D0}" destId="{5AB9C5D7-A822-4DFF-87C6-F55F0605E3FE}" srcOrd="0" destOrd="0" parTransId="{19120D07-3F54-4410-977D-6E9FBE4BCA47}" sibTransId="{F8A30F15-E078-49F7-B17E-E83CB3F121B0}"/>
    <dgm:cxn modelId="{6605DF83-1369-42BE-8EC4-70FC9050E431}" type="presOf" srcId="{2501958A-16A3-4604-A4FA-3730B5A68923}" destId="{BFC5E4F7-0D7F-4893-999C-B8E408A034A3}" srcOrd="0" destOrd="0" presId="urn:microsoft.com/office/officeart/2024/3/layout/hArchList1"/>
    <dgm:cxn modelId="{71588684-0285-4727-91E4-5168F9C92FB8}" srcId="{5AB9C5D7-A822-4DFF-87C6-F55F0605E3FE}" destId="{9EC2F38E-3C7A-4C02-9024-297D4F12CAC4}" srcOrd="1" destOrd="0" parTransId="{4BF1B602-C377-4511-ACC7-7C299A32D0FC}" sibTransId="{082DE15E-5525-4B1A-A24F-41E42EF9D52E}"/>
    <dgm:cxn modelId="{0A8DD185-98BA-4A95-A965-1E62D317B579}" type="presOf" srcId="{2B994BFC-2697-4148-9EC0-F735D639F81D}" destId="{4C283D49-6DCA-4E4C-BCC3-35531A050E35}" srcOrd="0" destOrd="0" presId="urn:microsoft.com/office/officeart/2024/3/layout/hArchList1"/>
    <dgm:cxn modelId="{A8AEF486-3167-484D-9E0B-9CC1EF12BC91}" srcId="{37627EEA-007C-4B6C-9E92-CD356D3800D0}" destId="{2B994BFC-2697-4148-9EC0-F735D639F81D}" srcOrd="1" destOrd="0" parTransId="{25B7F09B-D2F3-47F5-A1EB-A0DF08F67C2C}" sibTransId="{0B1E7D62-2847-4976-A88A-F29C95E36045}"/>
    <dgm:cxn modelId="{17197287-B6DB-4E92-B4B3-3E06326C0FC0}" type="presOf" srcId="{2F94512C-169F-478B-9F7B-AE81AFABAE2F}" destId="{898CABB2-27B1-4188-A5BA-0F62731A4A07}" srcOrd="0" destOrd="1" presId="urn:microsoft.com/office/officeart/2024/3/layout/hArchList1"/>
    <dgm:cxn modelId="{1B638493-9F30-45EC-AF63-AA17B0C9782E}" srcId="{2B994BFC-2697-4148-9EC0-F735D639F81D}" destId="{2559F312-CC8F-4CC5-8CDE-733020785F50}" srcOrd="2" destOrd="0" parTransId="{F0C5D9A9-0996-4625-9FA1-A0F41DD14658}" sibTransId="{0FBB3A7B-6C72-4495-A39B-4D63B9C70248}"/>
    <dgm:cxn modelId="{2F4DFF98-DE03-48AF-A51D-2C5CBF145025}" srcId="{6469C708-AFAC-489E-91E3-1B299177D2F5}" destId="{094CD091-CF41-45A5-A7FA-9397C0E5D0AE}" srcOrd="1" destOrd="0" parTransId="{92148ED5-F9DF-4C96-93CC-A2FA786CC56A}" sibTransId="{00ECAE49-0F3C-487E-A130-C928160474D8}"/>
    <dgm:cxn modelId="{1540169A-B760-4DF8-8ACE-F62E9DDBC337}" srcId="{6469C708-AFAC-489E-91E3-1B299177D2F5}" destId="{FF5F3B23-307F-45C4-B546-2751212F1714}" srcOrd="2" destOrd="0" parTransId="{5CF87814-EB7B-402C-BA42-72D5A03E36BC}" sibTransId="{17EA9851-5000-46B5-9011-5F5347B10051}"/>
    <dgm:cxn modelId="{B0055D9A-0568-4936-A09F-B91A39E49F78}" type="presOf" srcId="{E34EFF9A-0C6F-4E54-86E8-440EB76AACD4}" destId="{24F661A9-7C87-4C5D-8B17-B3761A7D15B1}" srcOrd="0" destOrd="0" presId="urn:microsoft.com/office/officeart/2024/3/layout/hArchList1"/>
    <dgm:cxn modelId="{5F06EFA5-F8DE-4853-BE72-B62F2AE7BB51}" type="presOf" srcId="{E5223D4D-5996-48C4-A887-1A483104079A}" destId="{898CABB2-27B1-4188-A5BA-0F62731A4A07}" srcOrd="0" destOrd="3" presId="urn:microsoft.com/office/officeart/2024/3/layout/hArchList1"/>
    <dgm:cxn modelId="{3799D3AA-11B9-49B8-A03C-D95543E5F750}" srcId="{37627EEA-007C-4B6C-9E92-CD356D3800D0}" destId="{6469C708-AFAC-489E-91E3-1B299177D2F5}" srcOrd="3" destOrd="0" parTransId="{3E6C52F5-CF1C-451C-9C31-4F73BCCEF105}" sibTransId="{020BE06C-BEB5-440C-987A-622E5F652119}"/>
    <dgm:cxn modelId="{28C5A0AC-BC05-42F9-A3C0-019B9F57914B}" type="presOf" srcId="{ACD0EB0C-7C98-4AA2-94B7-A6E5E6538984}" destId="{0FF83638-36CC-4AF6-94F9-19C934BBBF31}" srcOrd="0" destOrd="2" presId="urn:microsoft.com/office/officeart/2024/3/layout/hArchList1"/>
    <dgm:cxn modelId="{96B9BDB1-E1B9-48B8-AA02-7700832A59E2}" type="presOf" srcId="{392510CD-A01B-4EBB-9804-B49F966D2C69}" destId="{898CABB2-27B1-4188-A5BA-0F62731A4A07}" srcOrd="0" destOrd="4" presId="urn:microsoft.com/office/officeart/2024/3/layout/hArchList1"/>
    <dgm:cxn modelId="{B07334B6-E81A-4271-BC46-F1F9208FA76A}" type="presOf" srcId="{6469C708-AFAC-489E-91E3-1B299177D2F5}" destId="{F7EAC961-F89F-4690-AE35-BD5A3F724745}" srcOrd="0" destOrd="0" presId="urn:microsoft.com/office/officeart/2024/3/layout/hArchList1"/>
    <dgm:cxn modelId="{99F2BAB6-1B81-4581-B3D0-7CB189E5DD95}" type="presOf" srcId="{F8A30F15-E078-49F7-B17E-E83CB3F121B0}" destId="{10113EEF-2C9A-4E76-8ACB-7063C718DD0B}" srcOrd="0" destOrd="0" presId="urn:microsoft.com/office/officeart/2024/3/layout/hArchList1"/>
    <dgm:cxn modelId="{375166BC-0CC9-4C3D-BACC-044FBC5FDA6A}" srcId="{5AB9C5D7-A822-4DFF-87C6-F55F0605E3FE}" destId="{ACD0EB0C-7C98-4AA2-94B7-A6E5E6538984}" srcOrd="2" destOrd="0" parTransId="{CA707AEB-2F84-4D8C-A6A6-92B551D44D7D}" sibTransId="{334A92A4-FE60-49B8-9EAF-DE13A9F5EAC7}"/>
    <dgm:cxn modelId="{566B9ABC-F2D0-45AB-91A0-3E8000FDE6E8}" srcId="{E34EFF9A-0C6F-4E54-86E8-440EB76AACD4}" destId="{10ED0329-EE24-4BDE-904E-697684119A99}" srcOrd="1" destOrd="0" parTransId="{FCFDAF97-E2F0-4875-BD48-0AC77FA1D75F}" sibTransId="{4DE877C5-245D-427C-85A5-A976DBB25B5D}"/>
    <dgm:cxn modelId="{79C922C3-9BAE-436F-9326-9FF7149CAD21}" type="presOf" srcId="{2559F312-CC8F-4CC5-8CDE-733020785F50}" destId="{898CABB2-27B1-4188-A5BA-0F62731A4A07}" srcOrd="0" destOrd="2" presId="urn:microsoft.com/office/officeart/2024/3/layout/hArchList1"/>
    <dgm:cxn modelId="{8298FEC5-13B6-4B43-892C-827BE871C596}" srcId="{2B994BFC-2697-4148-9EC0-F735D639F81D}" destId="{E5223D4D-5996-48C4-A887-1A483104079A}" srcOrd="3" destOrd="0" parTransId="{13FBDC93-B786-4C2B-A856-C0CC5C259E67}" sibTransId="{2DFD86E9-0E3B-48D8-AB20-F0AB4E9BDDED}"/>
    <dgm:cxn modelId="{600FC7D2-51C3-4570-8BDB-50896D55DE29}" srcId="{2B994BFC-2697-4148-9EC0-F735D639F81D}" destId="{392510CD-A01B-4EBB-9804-B49F966D2C69}" srcOrd="4" destOrd="0" parTransId="{C452D5B1-1E7B-45FA-8EF2-9FB919B6C786}" sibTransId="{7321A26A-3D0B-4B23-813B-A5B65FA760E1}"/>
    <dgm:cxn modelId="{4937D9D2-04F2-4B8A-970C-43A2F892AE1F}" type="presOf" srcId="{FF5F3B23-307F-45C4-B546-2751212F1714}" destId="{4C73E254-77D0-4A62-8FBF-8CC76498567F}" srcOrd="0" destOrd="2" presId="urn:microsoft.com/office/officeart/2024/3/layout/hArchList1"/>
    <dgm:cxn modelId="{93BA17E3-7D2A-4BAB-A4A3-4698DE81CD8E}" type="presOf" srcId="{0B1E7D62-2847-4976-A88A-F29C95E36045}" destId="{93CC1F3F-5F30-42E9-A772-794B0C596D33}" srcOrd="0" destOrd="0" presId="urn:microsoft.com/office/officeart/2024/3/layout/hArchList1"/>
    <dgm:cxn modelId="{2F118EEC-0051-4A7E-8F77-C4D5869656E1}" type="presOf" srcId="{050BE72A-2E75-413C-946F-7F35F5626DB2}" destId="{4C73E254-77D0-4A62-8FBF-8CC76498567F}" srcOrd="0" destOrd="0" presId="urn:microsoft.com/office/officeart/2024/3/layout/hArchList1"/>
    <dgm:cxn modelId="{0B264AF1-FB43-4D86-9AD1-7E958ED6B905}" type="presOf" srcId="{542D35BE-E144-406B-93A7-1F2B2A9502D8}" destId="{EB4CBB98-8693-4950-A35B-08C3BD48AA15}" srcOrd="0" destOrd="2" presId="urn:microsoft.com/office/officeart/2024/3/layout/hArchList1"/>
    <dgm:cxn modelId="{904621D3-6937-4D1C-839B-92E4290F1C38}" type="presParOf" srcId="{967FB8B1-919C-4539-8150-D6142CA085D9}" destId="{C3F6C8DD-F860-4C4E-AB80-D6EF713E308D}" srcOrd="0" destOrd="0" presId="urn:microsoft.com/office/officeart/2024/3/layout/hArchList1"/>
    <dgm:cxn modelId="{5EDC507C-4582-436A-92FD-397D308373BB}" type="presParOf" srcId="{C3F6C8DD-F860-4C4E-AB80-D6EF713E308D}" destId="{98EDADCC-337F-4083-B4D3-A782DA0853E3}" srcOrd="0" destOrd="0" presId="urn:microsoft.com/office/officeart/2024/3/layout/hArchList1"/>
    <dgm:cxn modelId="{E2ED17EE-8BBB-46C7-8244-839654127531}" type="presParOf" srcId="{C3F6C8DD-F860-4C4E-AB80-D6EF713E308D}" destId="{0FF83638-36CC-4AF6-94F9-19C934BBBF31}" srcOrd="1" destOrd="0" presId="urn:microsoft.com/office/officeart/2024/3/layout/hArchList1"/>
    <dgm:cxn modelId="{79AC6F56-032D-4F40-A7ED-0AFA651A9EDD}" type="presParOf" srcId="{967FB8B1-919C-4539-8150-D6142CA085D9}" destId="{10113EEF-2C9A-4E76-8ACB-7063C718DD0B}" srcOrd="1" destOrd="0" presId="urn:microsoft.com/office/officeart/2024/3/layout/hArchList1"/>
    <dgm:cxn modelId="{C4303F6D-59BA-4242-89E5-F142F5A91935}" type="presParOf" srcId="{967FB8B1-919C-4539-8150-D6142CA085D9}" destId="{FF91B113-FC56-4E5C-B5CB-BECD488370F0}" srcOrd="2" destOrd="0" presId="urn:microsoft.com/office/officeart/2024/3/layout/hArchList1"/>
    <dgm:cxn modelId="{CCE527BE-AC1F-478E-910E-C4EC9BF3204F}" type="presParOf" srcId="{FF91B113-FC56-4E5C-B5CB-BECD488370F0}" destId="{4C283D49-6DCA-4E4C-BCC3-35531A050E35}" srcOrd="0" destOrd="0" presId="urn:microsoft.com/office/officeart/2024/3/layout/hArchList1"/>
    <dgm:cxn modelId="{A079B90F-DA65-49A1-8FCB-7EDA39C522DD}" type="presParOf" srcId="{FF91B113-FC56-4E5C-B5CB-BECD488370F0}" destId="{898CABB2-27B1-4188-A5BA-0F62731A4A07}" srcOrd="1" destOrd="0" presId="urn:microsoft.com/office/officeart/2024/3/layout/hArchList1"/>
    <dgm:cxn modelId="{D4A59393-9948-4C38-B019-7103253DE5C9}" type="presParOf" srcId="{967FB8B1-919C-4539-8150-D6142CA085D9}" destId="{93CC1F3F-5F30-42E9-A772-794B0C596D33}" srcOrd="3" destOrd="0" presId="urn:microsoft.com/office/officeart/2024/3/layout/hArchList1"/>
    <dgm:cxn modelId="{CFB69A39-62E8-4F45-99DC-64479177E37F}" type="presParOf" srcId="{967FB8B1-919C-4539-8150-D6142CA085D9}" destId="{519837EE-81BF-40E6-9787-D666DC12946F}" srcOrd="4" destOrd="0" presId="urn:microsoft.com/office/officeart/2024/3/layout/hArchList1"/>
    <dgm:cxn modelId="{47A26CC8-ACBF-4CCA-843A-E190FF31DD78}" type="presParOf" srcId="{519837EE-81BF-40E6-9787-D666DC12946F}" destId="{24F661A9-7C87-4C5D-8B17-B3761A7D15B1}" srcOrd="0" destOrd="0" presId="urn:microsoft.com/office/officeart/2024/3/layout/hArchList1"/>
    <dgm:cxn modelId="{02021C80-DC15-4567-87F1-0BE0BF1150ED}" type="presParOf" srcId="{519837EE-81BF-40E6-9787-D666DC12946F}" destId="{EB4CBB98-8693-4950-A35B-08C3BD48AA15}" srcOrd="1" destOrd="0" presId="urn:microsoft.com/office/officeart/2024/3/layout/hArchList1"/>
    <dgm:cxn modelId="{FD8A43B5-9585-46F7-BF3E-A997D0D2C0D6}" type="presParOf" srcId="{967FB8B1-919C-4539-8150-D6142CA085D9}" destId="{BFC5E4F7-0D7F-4893-999C-B8E408A034A3}" srcOrd="5" destOrd="0" presId="urn:microsoft.com/office/officeart/2024/3/layout/hArchList1"/>
    <dgm:cxn modelId="{D022066E-7EC9-40EF-9930-AD566B59EBE6}" type="presParOf" srcId="{967FB8B1-919C-4539-8150-D6142CA085D9}" destId="{DA9AC0FC-F6B8-459D-99A5-B842CC2EF8CF}" srcOrd="6" destOrd="0" presId="urn:microsoft.com/office/officeart/2024/3/layout/hArchList1"/>
    <dgm:cxn modelId="{02554E5B-BC2F-48B5-9127-70C6E47D0AFD}" type="presParOf" srcId="{DA9AC0FC-F6B8-459D-99A5-B842CC2EF8CF}" destId="{F7EAC961-F89F-4690-AE35-BD5A3F724745}" srcOrd="0" destOrd="0" presId="urn:microsoft.com/office/officeart/2024/3/layout/hArchList1"/>
    <dgm:cxn modelId="{3EC0858C-C776-40C9-B6CD-CAE6BC6F0CD8}" type="presParOf" srcId="{DA9AC0FC-F6B8-459D-99A5-B842CC2EF8CF}" destId="{4C73E254-77D0-4A62-8FBF-8CC76498567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DADCC-337F-4083-B4D3-A782DA0853E3}">
      <dsp:nvSpPr>
        <dsp:cNvPr id="0" name=""/>
        <dsp:cNvSpPr/>
      </dsp:nvSpPr>
      <dsp:spPr>
        <a:xfrm>
          <a:off x="0"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Data Ingestion &amp; Preprocessing</a:t>
          </a:r>
          <a:endParaRPr lang="en-US" sz="1800" kern="1200" dirty="0">
            <a:latin typeface="Avenir Next LT Pro"/>
          </a:endParaRPr>
        </a:p>
      </dsp:txBody>
      <dsp:txXfrm>
        <a:off x="0" y="0"/>
        <a:ext cx="2649497" cy="610510"/>
      </dsp:txXfrm>
    </dsp:sp>
    <dsp:sp modelId="{0FF83638-36CC-4AF6-94F9-19C934BBBF31}">
      <dsp:nvSpPr>
        <dsp:cNvPr id="0" name=""/>
        <dsp:cNvSpPr/>
      </dsp:nvSpPr>
      <dsp:spPr>
        <a:xfrm>
          <a:off x="0"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rtl="0">
            <a:lnSpc>
              <a:spcPct val="100000"/>
            </a:lnSpc>
            <a:spcBef>
              <a:spcPct val="0"/>
            </a:spcBef>
            <a:spcAft>
              <a:spcPct val="35000"/>
            </a:spcAft>
            <a:buNone/>
          </a:pPr>
          <a:endParaRPr lang="en-US" sz="1400" b="0" kern="1200" dirty="0">
            <a:latin typeface="Avenir Next LT Pro"/>
          </a:endParaRPr>
        </a:p>
        <a:p>
          <a:pPr marL="0" lvl="0" indent="0" algn="l" defTabSz="622300">
            <a:lnSpc>
              <a:spcPct val="100000"/>
            </a:lnSpc>
            <a:spcBef>
              <a:spcPct val="0"/>
            </a:spcBef>
            <a:spcAft>
              <a:spcPct val="35000"/>
            </a:spcAft>
            <a:buNone/>
          </a:pPr>
          <a:r>
            <a:rPr lang="en-US" sz="1400" b="0" kern="1200" dirty="0">
              <a:latin typeface="Avenir Next LT Pro"/>
            </a:rPr>
            <a:t>Collect CSV file and convert it to Parquet file for easy loading.</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 Storing data and model in format useful for future analysis and use.</a:t>
          </a:r>
        </a:p>
      </dsp:txBody>
      <dsp:txXfrm>
        <a:off x="0" y="610510"/>
        <a:ext cx="2649497" cy="3736512"/>
      </dsp:txXfrm>
    </dsp:sp>
    <dsp:sp modelId="{4C283D49-6DCA-4E4C-BCC3-35531A050E35}">
      <dsp:nvSpPr>
        <dsp:cNvPr id="0" name=""/>
        <dsp:cNvSpPr/>
      </dsp:nvSpPr>
      <dsp:spPr>
        <a:xfrm>
          <a:off x="2914447"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kern="1200" dirty="0">
              <a:latin typeface="Avenir Next LT Pro"/>
            </a:rPr>
            <a:t>EDA</a:t>
          </a:r>
          <a:endParaRPr lang="en-US" sz="1800" b="0" kern="1200" dirty="0"/>
        </a:p>
      </dsp:txBody>
      <dsp:txXfrm>
        <a:off x="2914447" y="0"/>
        <a:ext cx="2649497" cy="610510"/>
      </dsp:txXfrm>
    </dsp:sp>
    <dsp:sp modelId="{898CABB2-27B1-4188-A5BA-0F62731A4A07}">
      <dsp:nvSpPr>
        <dsp:cNvPr id="0" name=""/>
        <dsp:cNvSpPr/>
      </dsp:nvSpPr>
      <dsp:spPr>
        <a:xfrm>
          <a:off x="2914447"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EDA on the existing dataset is crucial as number of rows are very high 6M.</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Outlier detection is important.</a:t>
          </a:r>
        </a:p>
        <a:p>
          <a:pPr marL="0" lvl="0" indent="0" algn="l" defTabSz="622300">
            <a:lnSpc>
              <a:spcPct val="100000"/>
            </a:lnSpc>
            <a:spcBef>
              <a:spcPct val="0"/>
            </a:spcBef>
            <a:spcAft>
              <a:spcPct val="35000"/>
            </a:spcAft>
            <a:buNone/>
          </a:pPr>
          <a:r>
            <a:rPr lang="en-US" sz="1400" b="0" kern="1200" dirty="0">
              <a:latin typeface="Avenir Next LT Pro"/>
            </a:rPr>
            <a:t> Transformation to log values to get distribution understanding.</a:t>
          </a:r>
        </a:p>
        <a:p>
          <a:pPr marL="0" lvl="0" indent="0" algn="l" defTabSz="622300">
            <a:lnSpc>
              <a:spcPct val="100000"/>
            </a:lnSpc>
            <a:spcBef>
              <a:spcPct val="0"/>
            </a:spcBef>
            <a:spcAft>
              <a:spcPct val="35000"/>
            </a:spcAft>
            <a:buNone/>
          </a:pPr>
          <a:r>
            <a:rPr lang="en-US" sz="1400" b="0" kern="1200" dirty="0">
              <a:latin typeface="Avenir Next LT Pro"/>
            </a:rPr>
            <a:t> Helping features to provide more insight.</a:t>
          </a:r>
        </a:p>
      </dsp:txBody>
      <dsp:txXfrm>
        <a:off x="2914447" y="610510"/>
        <a:ext cx="2649497" cy="3736512"/>
      </dsp:txXfrm>
    </dsp:sp>
    <dsp:sp modelId="{24F661A9-7C87-4C5D-8B17-B3761A7D15B1}">
      <dsp:nvSpPr>
        <dsp:cNvPr id="0" name=""/>
        <dsp:cNvSpPr/>
      </dsp:nvSpPr>
      <dsp:spPr>
        <a:xfrm>
          <a:off x="5828895"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Visualization &amp; Reporting</a:t>
          </a:r>
          <a:endParaRPr lang="en-US" sz="1800" b="0" kern="1200" dirty="0"/>
        </a:p>
      </dsp:txBody>
      <dsp:txXfrm>
        <a:off x="5828895" y="0"/>
        <a:ext cx="2649497" cy="610510"/>
      </dsp:txXfrm>
    </dsp:sp>
    <dsp:sp modelId="{EB4CBB98-8693-4950-A35B-08C3BD48AA15}">
      <dsp:nvSpPr>
        <dsp:cNvPr id="0" name=""/>
        <dsp:cNvSpPr/>
      </dsp:nvSpPr>
      <dsp:spPr>
        <a:xfrm>
          <a:off x="5828895"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Interactive</a:t>
          </a:r>
          <a:r>
            <a:rPr lang="en-US" sz="1400" kern="1200" dirty="0"/>
            <a:t> </a:t>
          </a:r>
          <a:r>
            <a:rPr lang="en-US" sz="1400" kern="1200" dirty="0">
              <a:latin typeface="Avenir Next LT Pro"/>
            </a:rPr>
            <a:t>Power BI </a:t>
          </a:r>
          <a:r>
            <a:rPr lang="en-US" sz="1400" kern="1200" dirty="0"/>
            <a:t>dashboards and reports to track fraudulent activities and transaction trends effectively.</a:t>
          </a:r>
        </a:p>
        <a:p>
          <a:pPr marL="0" lvl="0" indent="0" algn="l" defTabSz="622300">
            <a:lnSpc>
              <a:spcPct val="100000"/>
            </a:lnSpc>
            <a:spcBef>
              <a:spcPct val="0"/>
            </a:spcBef>
            <a:spcAft>
              <a:spcPct val="35000"/>
            </a:spcAft>
            <a:buNone/>
          </a:pPr>
          <a:r>
            <a:rPr lang="en-US" sz="1400" b="0" kern="1200" dirty="0">
              <a:latin typeface="Avenir Next LT Pro"/>
            </a:rPr>
            <a:t>Direct Visualization from Parquet file saved from post feature engineering dataset.</a:t>
          </a:r>
        </a:p>
      </dsp:txBody>
      <dsp:txXfrm>
        <a:off x="5828895" y="610510"/>
        <a:ext cx="2649497" cy="3736512"/>
      </dsp:txXfrm>
    </dsp:sp>
    <dsp:sp modelId="{F7EAC961-F89F-4690-AE35-BD5A3F724745}">
      <dsp:nvSpPr>
        <dsp:cNvPr id="0" name=""/>
        <dsp:cNvSpPr/>
      </dsp:nvSpPr>
      <dsp:spPr>
        <a:xfrm>
          <a:off x="8743342"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Model Evaluation &amp; Optimization</a:t>
          </a:r>
        </a:p>
      </dsp:txBody>
      <dsp:txXfrm>
        <a:off x="8743342" y="0"/>
        <a:ext cx="2649497" cy="610510"/>
      </dsp:txXfrm>
    </dsp:sp>
    <dsp:sp modelId="{4C73E254-77D0-4A62-8FBF-8CC76498567F}">
      <dsp:nvSpPr>
        <dsp:cNvPr id="0" name=""/>
        <dsp:cNvSpPr/>
      </dsp:nvSpPr>
      <dsp:spPr>
        <a:xfrm>
          <a:off x="8743342"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t>Evaluate multiple models, tune parameters, and deploy the optimal model for continuous fraud monitoring.</a:t>
          </a:r>
        </a:p>
        <a:p>
          <a:pPr marL="0" lvl="0" indent="0" algn="l" defTabSz="622300">
            <a:lnSpc>
              <a:spcPct val="100000"/>
            </a:lnSpc>
            <a:spcBef>
              <a:spcPct val="0"/>
            </a:spcBef>
            <a:spcAft>
              <a:spcPct val="35000"/>
            </a:spcAft>
            <a:buNone/>
          </a:pPr>
          <a:r>
            <a:rPr lang="en-US" sz="1400" kern="1200" dirty="0">
              <a:latin typeface="Avenir Next LT Pro"/>
            </a:rPr>
            <a:t>Understand importance of Hybrid Models.</a:t>
          </a:r>
        </a:p>
      </dsp:txBody>
      <dsp:txXfrm>
        <a:off x="8743342" y="610510"/>
        <a:ext cx="2649497" cy="373651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93DB5-F704-4A9E-9221-0430EEEB421D}" type="datetimeFigureOut">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21377-C1E7-4451-8438-464C2D3588DC}" type="slidenum">
              <a:t>‹#›</a:t>
            </a:fld>
            <a:endParaRPr lang="en-US"/>
          </a:p>
        </p:txBody>
      </p:sp>
    </p:spTree>
    <p:extLst>
      <p:ext uri="{BB962C8B-B14F-4D97-AF65-F5344CB8AC3E}">
        <p14:creationId xmlns:p14="http://schemas.microsoft.com/office/powerpoint/2010/main" val="280517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2D393C4-0CA9-4C41-AE61-388330E2A571}" type="slidenum">
              <a:t>1</a:t>
            </a:fld>
            <a:endParaRPr lang="en-US"/>
          </a:p>
        </p:txBody>
      </p:sp>
    </p:spTree>
    <p:extLst>
      <p:ext uri="{BB962C8B-B14F-4D97-AF65-F5344CB8AC3E}">
        <p14:creationId xmlns:p14="http://schemas.microsoft.com/office/powerpoint/2010/main" val="2016719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Problem Statement
</a:t>
            </a:r>
          </a:p>
        </p:txBody>
      </p:sp>
      <p:sp>
        <p:nvSpPr>
          <p:cNvPr id="4" name="Slide Number Placeholder 3"/>
          <p:cNvSpPr>
            <a:spLocks noGrp="1"/>
          </p:cNvSpPr>
          <p:nvPr>
            <p:ph type="sldNum" sz="quarter" idx="5"/>
          </p:nvPr>
        </p:nvSpPr>
        <p:spPr/>
        <p:txBody>
          <a:bodyPr/>
          <a:lstStyle/>
          <a:p>
            <a:fld id="{B2D393C4-0CA9-4C41-AE61-388330E2A571}" type="slidenum">
              <a:t>2</a:t>
            </a:fld>
            <a:endParaRPr lang="en-US"/>
          </a:p>
        </p:txBody>
      </p:sp>
    </p:spTree>
    <p:extLst>
      <p:ext uri="{BB962C8B-B14F-4D97-AF65-F5344CB8AC3E}">
        <p14:creationId xmlns:p14="http://schemas.microsoft.com/office/powerpoint/2010/main" val="22275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JPMorgan Chase, a leading global financial institution, is experiencing a surge in fraudulent transactions driven by increasingly sophisticated cyber threats and financial fraud schemes. With millions of transactions processed daily, the challenge lies in detecting and preventing fraudulent activities in real time to safeguard customer assets and maintain trust. The primary goal of this capstone project is to design and implement a Fraud Detection System that leverages machine learning models and real-time transaction data to identify anomalies and alert security teams promptly. This system aims to minimize financial losses, enhance security measures, and ensure compliance with regulatory standards. The solution must be scalable, accurate, and capable of adapting to evolving fraud patterns, which requires a robust data pipeline, advanced analytics, and continuous monitoring. By addressing these challenges, the project contributes to strengthening JPMorgan Chase’s defense against fraud and improving operational resilience.
</a:t>
            </a:r>
          </a:p>
        </p:txBody>
      </p:sp>
      <p:sp>
        <p:nvSpPr>
          <p:cNvPr id="4" name="Slide Number Placeholder 3"/>
          <p:cNvSpPr>
            <a:spLocks noGrp="1"/>
          </p:cNvSpPr>
          <p:nvPr>
            <p:ph type="sldNum" sz="quarter" idx="5"/>
          </p:nvPr>
        </p:nvSpPr>
        <p:spPr/>
        <p:txBody>
          <a:bodyPr/>
          <a:lstStyle/>
          <a:p>
            <a:fld id="{B2D393C4-0CA9-4C41-AE61-388330E2A571}" type="slidenum">
              <a:t>3</a:t>
            </a:fld>
            <a:endParaRPr lang="en-US"/>
          </a:p>
        </p:txBody>
      </p:sp>
    </p:spTree>
    <p:extLst>
      <p:ext uri="{BB962C8B-B14F-4D97-AF65-F5344CB8AC3E}">
        <p14:creationId xmlns:p14="http://schemas.microsoft.com/office/powerpoint/2010/main" val="640675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Project Objectives, Data Preprocessing Summary
</a:t>
            </a:r>
          </a:p>
        </p:txBody>
      </p:sp>
      <p:sp>
        <p:nvSpPr>
          <p:cNvPr id="4" name="Slide Number Placeholder 3"/>
          <p:cNvSpPr>
            <a:spLocks noGrp="1"/>
          </p:cNvSpPr>
          <p:nvPr>
            <p:ph type="sldNum" sz="quarter" idx="5"/>
          </p:nvPr>
        </p:nvSpPr>
        <p:spPr/>
        <p:txBody>
          <a:bodyPr/>
          <a:lstStyle/>
          <a:p>
            <a:fld id="{B2D393C4-0CA9-4C41-AE61-388330E2A571}" type="slidenum">
              <a:t>4</a:t>
            </a:fld>
            <a:endParaRPr lang="en-US"/>
          </a:p>
        </p:txBody>
      </p:sp>
    </p:spTree>
    <p:extLst>
      <p:ext uri="{BB962C8B-B14F-4D97-AF65-F5344CB8AC3E}">
        <p14:creationId xmlns:p14="http://schemas.microsoft.com/office/powerpoint/2010/main" val="75856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project is structured around five key objectives: (1) Data Ingestion &amp; Preprocessing, which involves collecting transaction data from multiple sources such as CSV files, SQL databases, APIs, and NoSQL systems, followed by cleaning and normalization to handle missing values, inconsistencies, and outliers; (2) Fraud Detection Model Development, where supervised learning models like Logistic Regression and Random Forest are implemented using historical fraud-labeled data, alongside unsupervised anomaly detection techniques such as Isolation Forest and Autoencoders to identify new fraud patterns; (3) Real-Time Anomaly Detection &amp; Alerts, focusing on building an automated pipeline to process live transactions and trigger alerts for suspicious activities; (4) Visualization &amp; Reporting, which includes creating interactive dashboards in Power BI or Tableau to monitor fraudulent activities and generate detailed reports on transaction trends and high-risk regions; and (5) Model Evaluation &amp; Optimization, aimed at comparing multiple models, tuning hyperparameters, and deploying the best-performing model for real-time monitoring.
</a:t>
            </a:r>
          </a:p>
        </p:txBody>
      </p:sp>
      <p:sp>
        <p:nvSpPr>
          <p:cNvPr id="4" name="Slide Number Placeholder 3"/>
          <p:cNvSpPr>
            <a:spLocks noGrp="1"/>
          </p:cNvSpPr>
          <p:nvPr>
            <p:ph type="sldNum" sz="quarter" idx="5"/>
          </p:nvPr>
        </p:nvSpPr>
        <p:spPr/>
        <p:txBody>
          <a:bodyPr/>
          <a:lstStyle/>
          <a:p>
            <a:fld id="{B2D393C4-0CA9-4C41-AE61-388330E2A571}" type="slidenum">
              <a:t>5</a:t>
            </a:fld>
            <a:endParaRPr lang="en-US"/>
          </a:p>
        </p:txBody>
      </p:sp>
    </p:spTree>
    <p:extLst>
      <p:ext uri="{BB962C8B-B14F-4D97-AF65-F5344CB8AC3E}">
        <p14:creationId xmlns:p14="http://schemas.microsoft.com/office/powerpoint/2010/main" val="239229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p:cNvSpPr>
            <a:spLocks noGrp="1"/>
          </p:cNvSpPr>
          <p:nvPr>
            <p:ph type="sldNum" sz="quarter" idx="5"/>
          </p:nvPr>
        </p:nvSpPr>
        <p:spPr/>
        <p:txBody>
          <a:bodyPr/>
          <a:lstStyle/>
          <a:p>
            <a:fld id="{B2D393C4-0CA9-4C41-AE61-388330E2A571}" type="slidenum">
              <a:t>6</a:t>
            </a:fld>
            <a:endParaRPr lang="en-US"/>
          </a:p>
        </p:txBody>
      </p:sp>
    </p:spTree>
    <p:extLst>
      <p:ext uri="{BB962C8B-B14F-4D97-AF65-F5344CB8AC3E}">
        <p14:creationId xmlns:p14="http://schemas.microsoft.com/office/powerpoint/2010/main" val="218546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C94BC-EFC5-0C1A-CFFC-8C925C056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75E8D-25F8-B848-AC65-6959D1F3B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86832-E65D-9A57-AA16-0E4B50F8725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FE9BCA4E-CF27-2757-268B-244ED335B79E}"/>
              </a:ext>
            </a:extLst>
          </p:cNvPr>
          <p:cNvSpPr>
            <a:spLocks noGrp="1"/>
          </p:cNvSpPr>
          <p:nvPr>
            <p:ph type="sldNum" sz="quarter" idx="5"/>
          </p:nvPr>
        </p:nvSpPr>
        <p:spPr/>
        <p:txBody>
          <a:bodyPr/>
          <a:lstStyle/>
          <a:p>
            <a:fld id="{B2D393C4-0CA9-4C41-AE61-388330E2A571}" type="slidenum">
              <a:t>7</a:t>
            </a:fld>
            <a:endParaRPr lang="en-US"/>
          </a:p>
        </p:txBody>
      </p:sp>
    </p:spTree>
    <p:extLst>
      <p:ext uri="{BB962C8B-B14F-4D97-AF65-F5344CB8AC3E}">
        <p14:creationId xmlns:p14="http://schemas.microsoft.com/office/powerpoint/2010/main" val="2648123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F0CCF-529F-D134-D9A7-E6675F57D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7B03-220E-8BBE-E3CB-145659F36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CDA94-4A0F-B923-ABB1-3589FD79CF18}"/>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CC99AD63-9E7E-FF54-3D09-D2E7D3781030}"/>
              </a:ext>
            </a:extLst>
          </p:cNvPr>
          <p:cNvSpPr>
            <a:spLocks noGrp="1"/>
          </p:cNvSpPr>
          <p:nvPr>
            <p:ph type="sldNum" sz="quarter" idx="5"/>
          </p:nvPr>
        </p:nvSpPr>
        <p:spPr/>
        <p:txBody>
          <a:bodyPr/>
          <a:lstStyle/>
          <a:p>
            <a:fld id="{B2D393C4-0CA9-4C41-AE61-388330E2A571}" type="slidenum">
              <a:t>8</a:t>
            </a:fld>
            <a:endParaRPr lang="en-US"/>
          </a:p>
        </p:txBody>
      </p:sp>
    </p:spTree>
    <p:extLst>
      <p:ext uri="{BB962C8B-B14F-4D97-AF65-F5344CB8AC3E}">
        <p14:creationId xmlns:p14="http://schemas.microsoft.com/office/powerpoint/2010/main" val="2359384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Exploratory Data Analysis (EDA), Model Development
</a:t>
            </a:r>
          </a:p>
        </p:txBody>
      </p:sp>
      <p:sp>
        <p:nvSpPr>
          <p:cNvPr id="4" name="Slide Number Placeholder 3"/>
          <p:cNvSpPr>
            <a:spLocks noGrp="1"/>
          </p:cNvSpPr>
          <p:nvPr>
            <p:ph type="sldNum" sz="quarter" idx="5"/>
          </p:nvPr>
        </p:nvSpPr>
        <p:spPr/>
        <p:txBody>
          <a:bodyPr/>
          <a:lstStyle/>
          <a:p>
            <a:fld id="{B2D393C4-0CA9-4C41-AE61-388330E2A571}" type="slidenum">
              <a:t>10</a:t>
            </a:fld>
            <a:endParaRPr lang="en-US"/>
          </a:p>
        </p:txBody>
      </p:sp>
    </p:spTree>
    <p:extLst>
      <p:ext uri="{BB962C8B-B14F-4D97-AF65-F5344CB8AC3E}">
        <p14:creationId xmlns:p14="http://schemas.microsoft.com/office/powerpoint/2010/main" val="3015401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5D53-617F-71A0-22C9-57C37A650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A843B-2363-1F1A-0BB3-05D3C8D89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C1AC1-6FD5-91E5-E14B-4038164D805C}"/>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96E7B516-3D1E-C707-8C5E-BF13434D378F}"/>
              </a:ext>
            </a:extLst>
          </p:cNvPr>
          <p:cNvSpPr>
            <a:spLocks noGrp="1"/>
          </p:cNvSpPr>
          <p:nvPr>
            <p:ph type="sldNum" sz="quarter" idx="5"/>
          </p:nvPr>
        </p:nvSpPr>
        <p:spPr/>
        <p:txBody>
          <a:bodyPr/>
          <a:lstStyle/>
          <a:p>
            <a:fld id="{B2D393C4-0CA9-4C41-AE61-388330E2A571}" type="slidenum">
              <a:t>11</a:t>
            </a:fld>
            <a:endParaRPr lang="en-US"/>
          </a:p>
        </p:txBody>
      </p:sp>
    </p:spTree>
    <p:extLst>
      <p:ext uri="{BB962C8B-B14F-4D97-AF65-F5344CB8AC3E}">
        <p14:creationId xmlns:p14="http://schemas.microsoft.com/office/powerpoint/2010/main" val="3265381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C5BF-40CA-A74D-D3A1-FFE68D14C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B977B-4E4F-EA65-31AD-0178AA195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8371C-F29E-B610-E948-6713985F4364}"/>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29D9E0D7-7A54-EBC5-2B5F-3EB0FFA1688F}"/>
              </a:ext>
            </a:extLst>
          </p:cNvPr>
          <p:cNvSpPr>
            <a:spLocks noGrp="1"/>
          </p:cNvSpPr>
          <p:nvPr>
            <p:ph type="sldNum" sz="quarter" idx="5"/>
          </p:nvPr>
        </p:nvSpPr>
        <p:spPr/>
        <p:txBody>
          <a:bodyPr/>
          <a:lstStyle/>
          <a:p>
            <a:fld id="{B2D393C4-0CA9-4C41-AE61-388330E2A571}" type="slidenum">
              <a:t>12</a:t>
            </a:fld>
            <a:endParaRPr lang="en-US"/>
          </a:p>
        </p:txBody>
      </p:sp>
    </p:spTree>
    <p:extLst>
      <p:ext uri="{BB962C8B-B14F-4D97-AF65-F5344CB8AC3E}">
        <p14:creationId xmlns:p14="http://schemas.microsoft.com/office/powerpoint/2010/main" val="4284629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9FDB-5426-A312-C149-952F78C2D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D3A-4A28-78D5-DD18-C83F5072B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4B113-4C4D-E1CD-18C4-1927965474D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09FF4D44-0C15-15DF-89D4-C09E8B949A8A}"/>
              </a:ext>
            </a:extLst>
          </p:cNvPr>
          <p:cNvSpPr>
            <a:spLocks noGrp="1"/>
          </p:cNvSpPr>
          <p:nvPr>
            <p:ph type="sldNum" sz="quarter" idx="5"/>
          </p:nvPr>
        </p:nvSpPr>
        <p:spPr/>
        <p:txBody>
          <a:bodyPr/>
          <a:lstStyle/>
          <a:p>
            <a:fld id="{B2D393C4-0CA9-4C41-AE61-388330E2A571}" type="slidenum">
              <a:t>13</a:t>
            </a:fld>
            <a:endParaRPr lang="en-US"/>
          </a:p>
        </p:txBody>
      </p:sp>
    </p:spTree>
    <p:extLst>
      <p:ext uri="{BB962C8B-B14F-4D97-AF65-F5344CB8AC3E}">
        <p14:creationId xmlns:p14="http://schemas.microsoft.com/office/powerpoint/2010/main" val="370355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p:cNvSpPr>
            <a:spLocks noGrp="1"/>
          </p:cNvSpPr>
          <p:nvPr>
            <p:ph type="sldNum" sz="quarter" idx="5"/>
          </p:nvPr>
        </p:nvSpPr>
        <p:spPr/>
        <p:txBody>
          <a:bodyPr/>
          <a:lstStyle/>
          <a:p>
            <a:fld id="{B2D393C4-0CA9-4C41-AE61-388330E2A571}" type="slidenum">
              <a:t>14</a:t>
            </a:fld>
            <a:endParaRPr lang="en-US"/>
          </a:p>
        </p:txBody>
      </p:sp>
    </p:spTree>
    <p:extLst>
      <p:ext uri="{BB962C8B-B14F-4D97-AF65-F5344CB8AC3E}">
        <p14:creationId xmlns:p14="http://schemas.microsoft.com/office/powerpoint/2010/main" val="301557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model development phase combines supervised and unsupervised learning techniques to maximize fraud detection accuracy. Supervised models such as Logistic Regression and Random Forest are trained on historical data labeled with fraud indicators, enabling them to classify transactions effectively. Random Forest, with its ensemble approach, often outperforms simpler models by capturing complex feature interactions. Unsupervised methods like Isolation Forest and Autoencoders are employed to detect novel fraud patterns that do not conform to historical trends. Feature engineering plays a pivotal role, incorporating transaction metadata, device information, and behavioral patterns to enhance predictive power. The models are integrated into a real-time pipeline that processes incoming transactions, applies predictive algorithms, and triggers alerts for suspicious activities. This hybrid approach ensures comprehensive coverage of both known and emerging fraud scenarios.
</a:t>
            </a:r>
          </a:p>
        </p:txBody>
      </p:sp>
      <p:sp>
        <p:nvSpPr>
          <p:cNvPr id="4" name="Slide Number Placeholder 3"/>
          <p:cNvSpPr>
            <a:spLocks noGrp="1"/>
          </p:cNvSpPr>
          <p:nvPr>
            <p:ph type="sldNum" sz="quarter" idx="5"/>
          </p:nvPr>
        </p:nvSpPr>
        <p:spPr/>
        <p:txBody>
          <a:bodyPr/>
          <a:lstStyle/>
          <a:p>
            <a:fld id="{B2D393C4-0CA9-4C41-AE61-388330E2A571}" type="slidenum">
              <a:t>18</a:t>
            </a:fld>
            <a:endParaRPr lang="en-US"/>
          </a:p>
        </p:txBody>
      </p:sp>
    </p:spTree>
    <p:extLst>
      <p:ext uri="{BB962C8B-B14F-4D97-AF65-F5344CB8AC3E}">
        <p14:creationId xmlns:p14="http://schemas.microsoft.com/office/powerpoint/2010/main" val="2254887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Suggestions and Business Recommendations
</a:t>
            </a:r>
          </a:p>
        </p:txBody>
      </p:sp>
      <p:sp>
        <p:nvSpPr>
          <p:cNvPr id="4" name="Slide Number Placeholder 3"/>
          <p:cNvSpPr>
            <a:spLocks noGrp="1"/>
          </p:cNvSpPr>
          <p:nvPr>
            <p:ph type="sldNum" sz="quarter" idx="5"/>
          </p:nvPr>
        </p:nvSpPr>
        <p:spPr/>
        <p:txBody>
          <a:bodyPr/>
          <a:lstStyle/>
          <a:p>
            <a:fld id="{B2D393C4-0CA9-4C41-AE61-388330E2A571}" type="slidenum">
              <a:t>19</a:t>
            </a:fld>
            <a:endParaRPr lang="en-US"/>
          </a:p>
        </p:txBody>
      </p:sp>
    </p:spTree>
    <p:extLst>
      <p:ext uri="{BB962C8B-B14F-4D97-AF65-F5344CB8AC3E}">
        <p14:creationId xmlns:p14="http://schemas.microsoft.com/office/powerpoint/2010/main" val="1532726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is evaluated using metrics such as accuracy, precision, recall, and F1-score, which collectively measure the ability to correctly identify fraudulent transactions while minimizing false positives. The ROC curve and AUC score provide insights into the trade-off between sensitivity and specificity. Comparative analysis reveals that Random Forest achieves higher precision and recall compared to Logistic Regression, making it suitable for high-stakes fraud detection. Isolation Forest demonstrates strong capability in identifying anomalies, complementing supervised models. Hyperparameter tuning and cross-validation are applied to optimize performance and ensure generalizability. These evaluations guide the selection of the best-performing model for deployment in real-time monitoring systems.
</a:t>
            </a:r>
          </a:p>
        </p:txBody>
      </p:sp>
      <p:sp>
        <p:nvSpPr>
          <p:cNvPr id="4" name="Slide Number Placeholder 3"/>
          <p:cNvSpPr>
            <a:spLocks noGrp="1"/>
          </p:cNvSpPr>
          <p:nvPr>
            <p:ph type="sldNum" sz="quarter" idx="5"/>
          </p:nvPr>
        </p:nvSpPr>
        <p:spPr/>
        <p:txBody>
          <a:bodyPr/>
          <a:lstStyle/>
          <a:p>
            <a:fld id="{B2D393C4-0CA9-4C41-AE61-388330E2A571}" type="slidenum">
              <a:t>20</a:t>
            </a:fld>
            <a:endParaRPr lang="en-US"/>
          </a:p>
        </p:txBody>
      </p:sp>
    </p:spTree>
    <p:extLst>
      <p:ext uri="{BB962C8B-B14F-4D97-AF65-F5344CB8AC3E}">
        <p14:creationId xmlns:p14="http://schemas.microsoft.com/office/powerpoint/2010/main" val="946925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To strengthen fraud prevention, it is recommended to implement a real-time monitoring system that automatically flags and blocks transactions exceeding a predefined risk score threshold (e.g., &gt;0.90). Continuous retraining of models with new data is essential to adapt to evolving fraud tactics. Deploying interactive dashboards in Power BI or Tableau will enable security teams to visualize fraud trends and respond swiftly. Additionally, integrating anomaly detection with supervised models ensures comprehensive coverage. Establishing clear escalation protocols for flagged transactions and investing in advanced cybersecurity measures will further enhance resilience. These recommendations aim to reduce financial losses, improve operational efficiency, and maintain customer trust.
</a:t>
            </a:r>
          </a:p>
        </p:txBody>
      </p:sp>
      <p:sp>
        <p:nvSpPr>
          <p:cNvPr id="4" name="Slide Number Placeholder 3"/>
          <p:cNvSpPr>
            <a:spLocks noGrp="1"/>
          </p:cNvSpPr>
          <p:nvPr>
            <p:ph type="sldNum" sz="quarter" idx="5"/>
          </p:nvPr>
        </p:nvSpPr>
        <p:spPr/>
        <p:txBody>
          <a:bodyPr/>
          <a:lstStyle/>
          <a:p>
            <a:fld id="{B2D393C4-0CA9-4C41-AE61-388330E2A571}" type="slidenum">
              <a:t>22</a:t>
            </a:fld>
            <a:endParaRPr lang="en-US"/>
          </a:p>
        </p:txBody>
      </p:sp>
    </p:spTree>
    <p:extLst>
      <p:ext uri="{BB962C8B-B14F-4D97-AF65-F5344CB8AC3E}">
        <p14:creationId xmlns:p14="http://schemas.microsoft.com/office/powerpoint/2010/main" val="2137644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p:cNvSpPr>
            <a:spLocks noGrp="1"/>
          </p:cNvSpPr>
          <p:nvPr>
            <p:ph type="sldNum" sz="quarter" idx="5"/>
          </p:nvPr>
        </p:nvSpPr>
        <p:spPr/>
        <p:txBody>
          <a:bodyPr/>
          <a:lstStyle/>
          <a:p>
            <a:fld id="{B2D393C4-0CA9-4C41-AE61-388330E2A571}" type="slidenum">
              <a:t>23</a:t>
            </a:fld>
            <a:endParaRPr lang="en-US"/>
          </a:p>
        </p:txBody>
      </p:sp>
    </p:spTree>
    <p:extLst>
      <p:ext uri="{BB962C8B-B14F-4D97-AF65-F5344CB8AC3E}">
        <p14:creationId xmlns:p14="http://schemas.microsoft.com/office/powerpoint/2010/main" val="3593474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capstone project successfully addresses the challenge of detecting fraudulent transactions in real time by leveraging machine learning and advanced analytics. Through comprehensive data preprocessing, insightful EDA, and robust model development, the solution demonstrates strong potential for reducing fraud-related losses. Key achievements include the integration of supervised and unsupervised models, real-time alert mechanisms, and actionable business recommendations. Moving forward, the focus should be on deploying the system in production, monitoring its performance, and iterating based on feedback and emerging fraud patterns. Continuous improvement and stakeholder collaboration will ensure the system remains effective and aligned with organizational goals.
</a:t>
            </a:r>
          </a:p>
        </p:txBody>
      </p:sp>
      <p:sp>
        <p:nvSpPr>
          <p:cNvPr id="4" name="Slide Number Placeholder 3"/>
          <p:cNvSpPr>
            <a:spLocks noGrp="1"/>
          </p:cNvSpPr>
          <p:nvPr>
            <p:ph type="sldNum" sz="quarter" idx="5"/>
          </p:nvPr>
        </p:nvSpPr>
        <p:spPr/>
        <p:txBody>
          <a:bodyPr/>
          <a:lstStyle/>
          <a:p>
            <a:fld id="{B2D393C4-0CA9-4C41-AE61-388330E2A571}" type="slidenum">
              <a:t>24</a:t>
            </a:fld>
            <a:endParaRPr lang="en-US"/>
          </a:p>
        </p:txBody>
      </p:sp>
    </p:spTree>
    <p:extLst>
      <p:ext uri="{BB962C8B-B14F-4D97-AF65-F5344CB8AC3E}">
        <p14:creationId xmlns:p14="http://schemas.microsoft.com/office/powerpoint/2010/main" val="1086451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27B0-8681-F799-992E-713B8F098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FB94F-32D7-0A39-FBD0-9762B8D7D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5B147-B7D7-1119-61D3-24F3C1DE2449}"/>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a:extLst>
              <a:ext uri="{FF2B5EF4-FFF2-40B4-BE49-F238E27FC236}">
                <a16:creationId xmlns:a16="http://schemas.microsoft.com/office/drawing/2014/main" id="{D9348E3C-621D-1B4A-A101-3199085B0FE7}"/>
              </a:ext>
            </a:extLst>
          </p:cNvPr>
          <p:cNvSpPr>
            <a:spLocks noGrp="1"/>
          </p:cNvSpPr>
          <p:nvPr>
            <p:ph type="sldNum" sz="quarter" idx="5"/>
          </p:nvPr>
        </p:nvSpPr>
        <p:spPr/>
        <p:txBody>
          <a:bodyPr/>
          <a:lstStyle/>
          <a:p>
            <a:fld id="{B2D393C4-0CA9-4C41-AE61-388330E2A571}" type="slidenum">
              <a:t>25</a:t>
            </a:fld>
            <a:endParaRPr lang="en-US"/>
          </a:p>
        </p:txBody>
      </p:sp>
    </p:spTree>
    <p:extLst>
      <p:ext uri="{BB962C8B-B14F-4D97-AF65-F5344CB8AC3E}">
        <p14:creationId xmlns:p14="http://schemas.microsoft.com/office/powerpoint/2010/main" val="235296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Sunday, December 7,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Sunday, December 7,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Sunday, December 7,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Sunday, December 7,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Sunday, December 7, 2025</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Sunday, December 7,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Sunday, December 7,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Sunday, December 7,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Sunday, December 7,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Sunday, December 7,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Sunday, December 7,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Sunday, December 7,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Sunday, December 7,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5.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4A90-66E1-0C56-B4E8-725993D90C2F}"/>
              </a:ext>
            </a:extLst>
          </p:cNvPr>
          <p:cNvSpPr>
            <a:spLocks noGrp="1"/>
          </p:cNvSpPr>
          <p:nvPr>
            <p:ph type="ctrTitle"/>
          </p:nvPr>
        </p:nvSpPr>
        <p:spPr>
          <a:xfrm>
            <a:off x="3557016" y="987552"/>
            <a:ext cx="7644384" cy="2944368"/>
          </a:xfrm>
        </p:spPr>
        <p:txBody>
          <a:bodyPr anchor="b">
            <a:normAutofit fontScale="90000"/>
          </a:bodyPr>
          <a:lstStyle/>
          <a:p>
            <a:r>
              <a:rPr lang="en-US" dirty="0">
                <a:latin typeface="Calibri Light"/>
                <a:ea typeface="Calibri Light"/>
                <a:cs typeface="Calibri Light"/>
              </a:rPr>
              <a:t>Capstone Project: Fraud Detection System for JPMorgan Chase - Case Study</a:t>
            </a:r>
            <a:endParaRPr lang="en-US" dirty="0"/>
          </a:p>
        </p:txBody>
      </p:sp>
      <p:sp>
        <p:nvSpPr>
          <p:cNvPr id="3" name="Subtitle 2">
            <a:extLst>
              <a:ext uri="{FF2B5EF4-FFF2-40B4-BE49-F238E27FC236}">
                <a16:creationId xmlns:a16="http://schemas.microsoft.com/office/drawing/2014/main" id="{4EFCB101-4E5A-9FDA-7EEA-A10B5EE20449}"/>
              </a:ext>
            </a:extLst>
          </p:cNvPr>
          <p:cNvSpPr>
            <a:spLocks noGrp="1"/>
          </p:cNvSpPr>
          <p:nvPr>
            <p:ph type="subTitle" idx="1"/>
          </p:nvPr>
        </p:nvSpPr>
        <p:spPr>
          <a:xfrm>
            <a:off x="630428" y="5294376"/>
            <a:ext cx="10565384" cy="1078992"/>
          </a:xfrm>
        </p:spPr>
        <p:txBody>
          <a:bodyPr vert="horz" lIns="91440" tIns="45720" rIns="91440" bIns="45720" rtlCol="0" anchor="ctr">
            <a:noAutofit/>
          </a:bodyPr>
          <a:lstStyle/>
          <a:p>
            <a:pPr algn="ctr"/>
            <a:r>
              <a:rPr lang="en-US" sz="2800" dirty="0">
                <a:latin typeface="Calibri"/>
                <a:ea typeface="Calibri"/>
                <a:cs typeface="Calibri"/>
              </a:rPr>
              <a:t>Members : Kritika , Madhuri, Rakesh, Shyam, </a:t>
            </a:r>
            <a:r>
              <a:rPr lang="en-US" sz="2800" dirty="0" err="1">
                <a:latin typeface="Calibri"/>
                <a:ea typeface="Calibri"/>
                <a:cs typeface="Calibri"/>
              </a:rPr>
              <a:t>Vinnay</a:t>
            </a:r>
            <a:r>
              <a:rPr lang="en-US" sz="2800" dirty="0">
                <a:latin typeface="Calibri"/>
                <a:ea typeface="Calibri"/>
                <a:cs typeface="Calibri"/>
              </a:rPr>
              <a:t>, Vishnu, </a:t>
            </a:r>
            <a:r>
              <a:rPr lang="en-US" sz="2800" dirty="0" err="1">
                <a:latin typeface="Calibri"/>
                <a:ea typeface="Calibri"/>
                <a:cs typeface="Calibri"/>
              </a:rPr>
              <a:t>Yesupadam</a:t>
            </a:r>
            <a:r>
              <a:rPr lang="en-US" sz="2800" dirty="0">
                <a:latin typeface="Calibri"/>
                <a:ea typeface="Calibri"/>
                <a:cs typeface="Calibri"/>
              </a:rPr>
              <a:t> and </a:t>
            </a:r>
            <a:r>
              <a:rPr lang="en-US" sz="2800" dirty="0" err="1">
                <a:latin typeface="Calibri"/>
                <a:ea typeface="Calibri"/>
                <a:cs typeface="Calibri"/>
              </a:rPr>
              <a:t>Yogeshwarachari</a:t>
            </a:r>
            <a:endParaRPr lang="en-US" sz="2800" dirty="0"/>
          </a:p>
          <a:p>
            <a:endParaRPr lang="en-US" sz="1600" dirty="0"/>
          </a:p>
        </p:txBody>
      </p:sp>
    </p:spTree>
    <p:extLst>
      <p:ext uri="{BB962C8B-B14F-4D97-AF65-F5344CB8AC3E}">
        <p14:creationId xmlns:p14="http://schemas.microsoft.com/office/powerpoint/2010/main" val="362684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5B67-290C-F8BA-7438-B2D1D4BC7423}"/>
              </a:ext>
            </a:extLst>
          </p:cNvPr>
          <p:cNvSpPr>
            <a:spLocks noGrp="1"/>
          </p:cNvSpPr>
          <p:nvPr>
            <p:ph type="title"/>
          </p:nvPr>
        </p:nvSpPr>
        <p:spPr>
          <a:xfrm>
            <a:off x="731520" y="2596896"/>
            <a:ext cx="8933688" cy="3566160"/>
          </a:xfrm>
        </p:spPr>
        <p:txBody>
          <a:bodyPr anchor="b">
            <a:normAutofit/>
          </a:bodyPr>
          <a:lstStyle/>
          <a:p>
            <a:r>
              <a:rPr lang="en-US"/>
              <a:t>Introduction and Problem Statement</a:t>
            </a:r>
          </a:p>
        </p:txBody>
      </p:sp>
    </p:spTree>
    <p:extLst>
      <p:ext uri="{BB962C8B-B14F-4D97-AF65-F5344CB8AC3E}">
        <p14:creationId xmlns:p14="http://schemas.microsoft.com/office/powerpoint/2010/main" val="184807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E752-DB8E-EB90-3288-72D6287BDAB3}"/>
              </a:ext>
            </a:extLst>
          </p:cNvPr>
          <p:cNvSpPr>
            <a:spLocks noGrp="1"/>
          </p:cNvSpPr>
          <p:nvPr>
            <p:ph type="title"/>
          </p:nvPr>
        </p:nvSpPr>
        <p:spPr>
          <a:xfrm>
            <a:off x="731520" y="312572"/>
            <a:ext cx="6858000" cy="923544"/>
          </a:xfrm>
        </p:spPr>
        <p:txBody>
          <a:bodyPr anchor="b">
            <a:normAutofit/>
          </a:bodyPr>
          <a:lstStyle/>
          <a:p>
            <a:r>
              <a:rPr lang="en-US"/>
              <a:t>Problem Statement</a:t>
            </a:r>
          </a:p>
        </p:txBody>
      </p:sp>
      <p:sp>
        <p:nvSpPr>
          <p:cNvPr id="4" name="Content Placeholder 3">
            <a:extLst>
              <a:ext uri="{FF2B5EF4-FFF2-40B4-BE49-F238E27FC236}">
                <a16:creationId xmlns:a16="http://schemas.microsoft.com/office/drawing/2014/main" id="{D92A0E37-8AD2-6F1E-04A0-3503B86E4E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Rising Fraud Challenges</a:t>
            </a:r>
          </a:p>
          <a:p>
            <a:pPr marL="0" lvl="1" indent="0">
              <a:buFont typeface="Arial" panose="020B0604020202020204" pitchFamily="34" charset="0"/>
              <a:buNone/>
            </a:pPr>
            <a:r>
              <a:t>Fraudulent transactions are increasing due to sophisticated cyber threats and complex financial fraud schemes.</a:t>
            </a:r>
            <a:endParaRPr lang="en-US"/>
          </a:p>
          <a:p>
            <a:pPr marL="0" indent="0">
              <a:spcBef>
                <a:spcPts val="2500"/>
              </a:spcBef>
              <a:buFont typeface="Arial" panose="020B0604020202020204" pitchFamily="34" charset="0"/>
              <a:buNone/>
            </a:pPr>
            <a:r>
              <a:rPr lang="en-US" b="1"/>
              <a:t>Need for Real-Time Detection</a:t>
            </a:r>
          </a:p>
          <a:p>
            <a:pPr marL="0" lvl="1" indent="0">
              <a:buFont typeface="Arial" panose="020B0604020202020204" pitchFamily="34" charset="0"/>
              <a:buNone/>
            </a:pPr>
            <a:r>
              <a:t>Detecting and preventing fraud in real time is essential to protect customer assets and maintain trust.</a:t>
            </a:r>
            <a:endParaRPr lang="en-US"/>
          </a:p>
          <a:p>
            <a:pPr marL="0" indent="0">
              <a:spcBef>
                <a:spcPts val="2500"/>
              </a:spcBef>
              <a:buFont typeface="Arial" panose="020B0604020202020204" pitchFamily="34" charset="0"/>
              <a:buNone/>
            </a:pPr>
            <a:r>
              <a:rPr lang="en-US" b="1"/>
              <a:t>Machine Learning Solution</a:t>
            </a:r>
          </a:p>
          <a:p>
            <a:pPr marL="0" lvl="1" indent="0">
              <a:buFont typeface="Arial" panose="020B0604020202020204" pitchFamily="34" charset="0"/>
              <a:buNone/>
            </a:pPr>
            <a:r>
              <a:t>The system uses machine learning models and real-time data to identify anomalies and alert security teams.</a:t>
            </a:r>
            <a:endParaRPr lang="en-US"/>
          </a:p>
          <a:p>
            <a:pPr marL="0" indent="0">
              <a:spcBef>
                <a:spcPts val="2500"/>
              </a:spcBef>
              <a:buFont typeface="Arial" panose="020B0604020202020204" pitchFamily="34" charset="0"/>
              <a:buNone/>
            </a:pPr>
            <a:r>
              <a:rPr lang="en-US" b="1"/>
              <a:t>Scalable and Adaptive System</a:t>
            </a:r>
          </a:p>
          <a:p>
            <a:pPr marL="0" lvl="1" indent="0">
              <a:buFont typeface="Arial" panose="020B0604020202020204" pitchFamily="34" charset="0"/>
              <a:buNone/>
            </a:pPr>
            <a:r>
              <a:t>The solution must be scalable, accurate, and adaptive to evolving fraud patterns with continuous monitoring.</a:t>
            </a:r>
            <a:endParaRPr lang="en-US"/>
          </a:p>
        </p:txBody>
      </p:sp>
      <p:pic>
        <p:nvPicPr>
          <p:cNvPr id="5" name="Content Placeholder 4" descr="Modern background created from scratch through a multi-step design process">
            <a:extLst>
              <a:ext uri="{FF2B5EF4-FFF2-40B4-BE49-F238E27FC236}">
                <a16:creationId xmlns:a16="http://schemas.microsoft.com/office/drawing/2014/main" id="{3F723113-8C09-465C-927E-9863A8CDF7AC}"/>
              </a:ext>
            </a:extLst>
          </p:cNvPr>
          <p:cNvPicPr>
            <a:picLocks noGrp="1" noChangeAspect="1"/>
          </p:cNvPicPr>
          <p:nvPr>
            <p:ph type="pic" sz="quarter" idx="15"/>
          </p:nvPr>
        </p:nvPicPr>
        <p:blipFill>
          <a:blip r:embed="rId3"/>
          <a:srcRect l="23005" r="3741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427035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5903-A947-9A12-95B8-62EB494A0B20}"/>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Project Objectives and Data Preprocessing</a:t>
            </a:r>
          </a:p>
        </p:txBody>
      </p:sp>
    </p:spTree>
    <p:extLst>
      <p:ext uri="{BB962C8B-B14F-4D97-AF65-F5344CB8AC3E}">
        <p14:creationId xmlns:p14="http://schemas.microsoft.com/office/powerpoint/2010/main" val="1737314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84F0-8640-B1EB-FBAA-1A6E329F6014}"/>
              </a:ext>
            </a:extLst>
          </p:cNvPr>
          <p:cNvSpPr>
            <a:spLocks noGrp="1"/>
          </p:cNvSpPr>
          <p:nvPr>
            <p:ph type="title"/>
          </p:nvPr>
        </p:nvSpPr>
        <p:spPr>
          <a:xfrm>
            <a:off x="1033272" y="347472"/>
            <a:ext cx="9875520" cy="1033272"/>
          </a:xfrm>
        </p:spPr>
        <p:txBody>
          <a:bodyPr anchor="ctr">
            <a:normAutofit/>
          </a:bodyPr>
          <a:lstStyle/>
          <a:p>
            <a:r>
              <a:rPr lang="en-US"/>
              <a:t>Project Objectives</a:t>
            </a:r>
          </a:p>
        </p:txBody>
      </p:sp>
      <p:graphicFrame>
        <p:nvGraphicFramePr>
          <p:cNvPr id="7" name="Content Placeholder 2">
            <a:extLst>
              <a:ext uri="{FF2B5EF4-FFF2-40B4-BE49-F238E27FC236}">
                <a16:creationId xmlns:a16="http://schemas.microsoft.com/office/drawing/2014/main" id="{475E510C-C877-1B2B-B5E0-AA909950F977}"/>
              </a:ext>
            </a:extLst>
          </p:cNvPr>
          <p:cNvGraphicFramePr>
            <a:graphicFrameLocks noGrp="1"/>
          </p:cNvGraphicFramePr>
          <p:nvPr>
            <p:ph idx="1"/>
            <p:extLst>
              <p:ext uri="{D42A27DB-BD31-4B8C-83A1-F6EECF244321}">
                <p14:modId xmlns:p14="http://schemas.microsoft.com/office/powerpoint/2010/main" val="47798112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98272" y="2508503"/>
          <a:ext cx="11399520" cy="4347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4690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8FEF9-C200-F398-25E2-9CE18AA4BCAA}"/>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15" name="Content Placeholder 14">
            <a:extLst>
              <a:ext uri="{FF2B5EF4-FFF2-40B4-BE49-F238E27FC236}">
                <a16:creationId xmlns:a16="http://schemas.microsoft.com/office/drawing/2014/main" id="{E16225F2-C96E-1EBA-65C2-38A9C60EEF54}"/>
              </a:ext>
            </a:extLst>
          </p:cNvPr>
          <p:cNvGraphicFramePr>
            <a:graphicFrameLocks noGrp="1"/>
          </p:cNvGraphicFramePr>
          <p:nvPr>
            <p:ph idx="1"/>
            <p:extLst>
              <p:ext uri="{D42A27DB-BD31-4B8C-83A1-F6EECF244321}">
                <p14:modId xmlns:p14="http://schemas.microsoft.com/office/powerpoint/2010/main" val="2298215966"/>
              </p:ext>
            </p:extLst>
          </p:nvPr>
        </p:nvGraphicFramePr>
        <p:xfrm>
          <a:off x="437115" y="1883189"/>
          <a:ext cx="9295894" cy="2579969"/>
        </p:xfrm>
        <a:graphic>
          <a:graphicData uri="http://schemas.openxmlformats.org/drawingml/2006/table">
            <a:tbl>
              <a:tblPr bandRow="1">
                <a:tableStyleId>{5C22544A-7EE6-4342-B048-85BDC9FD1C3A}</a:tableStyleId>
              </a:tblPr>
              <a:tblGrid>
                <a:gridCol w="2635381">
                  <a:extLst>
                    <a:ext uri="{9D8B030D-6E8A-4147-A177-3AD203B41FA5}">
                      <a16:colId xmlns:a16="http://schemas.microsoft.com/office/drawing/2014/main" val="290328298"/>
                    </a:ext>
                  </a:extLst>
                </a:gridCol>
                <a:gridCol w="2110363">
                  <a:extLst>
                    <a:ext uri="{9D8B030D-6E8A-4147-A177-3AD203B41FA5}">
                      <a16:colId xmlns:a16="http://schemas.microsoft.com/office/drawing/2014/main" val="342956645"/>
                    </a:ext>
                  </a:extLst>
                </a:gridCol>
                <a:gridCol w="2686853">
                  <a:extLst>
                    <a:ext uri="{9D8B030D-6E8A-4147-A177-3AD203B41FA5}">
                      <a16:colId xmlns:a16="http://schemas.microsoft.com/office/drawing/2014/main" val="2586060500"/>
                    </a:ext>
                  </a:extLst>
                </a:gridCol>
                <a:gridCol w="1863297">
                  <a:extLst>
                    <a:ext uri="{9D8B030D-6E8A-4147-A177-3AD203B41FA5}">
                      <a16:colId xmlns:a16="http://schemas.microsoft.com/office/drawing/2014/main" val="153719862"/>
                    </a:ext>
                  </a:extLst>
                </a:gridCol>
              </a:tblGrid>
              <a:tr h="0">
                <a:tc>
                  <a:txBody>
                    <a:bodyPr/>
                    <a:lstStyle/>
                    <a:p>
                      <a:pPr fontAlgn="base">
                        <a:lnSpc>
                          <a:spcPts val="1425"/>
                        </a:lnSpc>
                        <a:buNone/>
                      </a:pPr>
                      <a:r>
                        <a:rPr lang="en-US" sz="1200" b="1" cap="all">
                          <a:solidFill>
                            <a:srgbClr val="000000"/>
                          </a:solidFill>
                          <a:effectLst/>
                          <a:latin typeface="Univers" panose="020B0503020202020204" pitchFamily="34" charset="0"/>
                        </a:rPr>
                        <a:t>Column Name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Data Type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Description</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Example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extLst>
                  <a:ext uri="{0D108BD9-81ED-4DB2-BD59-A6C34878D82A}">
                    <a16:rowId xmlns:a16="http://schemas.microsoft.com/office/drawing/2014/main" val="1856162793"/>
                  </a:ext>
                </a:extLst>
              </a:tr>
              <a:tr h="503240">
                <a:tc>
                  <a:txBody>
                    <a:bodyPr/>
                    <a:lstStyle/>
                    <a:p>
                      <a:pPr fontAlgn="base">
                        <a:lnSpc>
                          <a:spcPts val="1275"/>
                        </a:lnSpc>
                        <a:buNone/>
                      </a:pPr>
                      <a:r>
                        <a:rPr lang="en-US" sz="1050" b="1">
                          <a:effectLst/>
                          <a:latin typeface="Univers" panose="020B0503020202020204" pitchFamily="34" charset="0"/>
                        </a:rPr>
                        <a:t>step</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Integer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Time step in the simulation (e.g., hours or days)</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181</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05897454"/>
                  </a:ext>
                </a:extLst>
              </a:tr>
              <a:tr h="622653">
                <a:tc>
                  <a:txBody>
                    <a:bodyPr/>
                    <a:lstStyle/>
                    <a:p>
                      <a:pPr fontAlgn="base">
                        <a:lnSpc>
                          <a:spcPts val="1275"/>
                        </a:lnSpc>
                        <a:buNone/>
                      </a:pPr>
                      <a:r>
                        <a:rPr lang="en-US" sz="1050" b="1">
                          <a:effectLst/>
                          <a:latin typeface="Univers" panose="020B0503020202020204" pitchFamily="34" charset="0"/>
                        </a:rPr>
                        <a:t>type</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String</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Type of transaction (PAYMENT, TRANSFER, CASH_OUT, CASH_IN, DEBIT)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TRANSFER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89917764"/>
                  </a:ext>
                </a:extLst>
              </a:tr>
              <a:tr h="392356">
                <a:tc>
                  <a:txBody>
                    <a:bodyPr/>
                    <a:lstStyle/>
                    <a:p>
                      <a:pPr fontAlgn="base">
                        <a:lnSpc>
                          <a:spcPts val="1275"/>
                        </a:lnSpc>
                        <a:buNone/>
                      </a:pPr>
                      <a:r>
                        <a:rPr lang="en-US" sz="1050" b="1">
                          <a:effectLst/>
                          <a:latin typeface="Univers" panose="020B0503020202020204" pitchFamily="34" charset="0"/>
                        </a:rPr>
                        <a:t>amount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Float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Amount of the transaction</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983.50</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51399932"/>
                  </a:ext>
                </a:extLst>
              </a:tr>
            </a:tbl>
          </a:graphicData>
        </a:graphic>
      </p:graphicFrame>
    </p:spTree>
    <p:extLst>
      <p:ext uri="{BB962C8B-B14F-4D97-AF65-F5344CB8AC3E}">
        <p14:creationId xmlns:p14="http://schemas.microsoft.com/office/powerpoint/2010/main" val="343418472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E5AC-B4E3-5AB7-A3E5-76888527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11797-79E0-1500-A6AF-0B406AC6D1E5}"/>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6" name="Content Placeholder 5">
            <a:extLst>
              <a:ext uri="{FF2B5EF4-FFF2-40B4-BE49-F238E27FC236}">
                <a16:creationId xmlns:a16="http://schemas.microsoft.com/office/drawing/2014/main" id="{5622ABEF-C376-405B-0ACC-E9A3ED83D7C3}"/>
              </a:ext>
            </a:extLst>
          </p:cNvPr>
          <p:cNvGraphicFramePr>
            <a:graphicFrameLocks noGrp="1"/>
          </p:cNvGraphicFramePr>
          <p:nvPr>
            <p:ph idx="1"/>
            <p:extLst>
              <p:ext uri="{D42A27DB-BD31-4B8C-83A1-F6EECF244321}">
                <p14:modId xmlns:p14="http://schemas.microsoft.com/office/powerpoint/2010/main" val="1866269737"/>
              </p:ext>
            </p:extLst>
          </p:nvPr>
        </p:nvGraphicFramePr>
        <p:xfrm>
          <a:off x="359811" y="1916320"/>
          <a:ext cx="9875835" cy="4038600"/>
        </p:xfrm>
        <a:graphic>
          <a:graphicData uri="http://schemas.openxmlformats.org/drawingml/2006/table">
            <a:tbl>
              <a:tblPr bandRow="1">
                <a:tableStyleId>{5C22544A-7EE6-4342-B048-85BDC9FD1C3A}</a:tableStyleId>
              </a:tblPr>
              <a:tblGrid>
                <a:gridCol w="2619899">
                  <a:extLst>
                    <a:ext uri="{9D8B030D-6E8A-4147-A177-3AD203B41FA5}">
                      <a16:colId xmlns:a16="http://schemas.microsoft.com/office/drawing/2014/main" val="891591577"/>
                    </a:ext>
                  </a:extLst>
                </a:gridCol>
                <a:gridCol w="1865196">
                  <a:extLst>
                    <a:ext uri="{9D8B030D-6E8A-4147-A177-3AD203B41FA5}">
                      <a16:colId xmlns:a16="http://schemas.microsoft.com/office/drawing/2014/main" val="1927696446"/>
                    </a:ext>
                  </a:extLst>
                </a:gridCol>
                <a:gridCol w="3008033">
                  <a:extLst>
                    <a:ext uri="{9D8B030D-6E8A-4147-A177-3AD203B41FA5}">
                      <a16:colId xmlns:a16="http://schemas.microsoft.com/office/drawing/2014/main" val="2746064881"/>
                    </a:ext>
                  </a:extLst>
                </a:gridCol>
                <a:gridCol w="2382707">
                  <a:extLst>
                    <a:ext uri="{9D8B030D-6E8A-4147-A177-3AD203B41FA5}">
                      <a16:colId xmlns:a16="http://schemas.microsoft.com/office/drawing/2014/main" val="1199045253"/>
                    </a:ext>
                  </a:extLst>
                </a:gridCol>
              </a:tblGrid>
              <a:tr h="438150">
                <a:tc>
                  <a:txBody>
                    <a:bodyPr/>
                    <a:lstStyle/>
                    <a:p>
                      <a:pPr fontAlgn="base">
                        <a:lnSpc>
                          <a:spcPts val="1200"/>
                        </a:lnSpc>
                        <a:buNone/>
                      </a:pPr>
                      <a:r>
                        <a:rPr lang="en-US" sz="1000" b="1" cap="all">
                          <a:solidFill>
                            <a:srgbClr val="FFFFFF"/>
                          </a:solidFill>
                          <a:effectLst/>
                          <a:latin typeface="Univers" panose="020B0503020202020204" pitchFamily="34" charset="0"/>
                        </a:rPr>
                        <a:t>Column Name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Data Type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Description</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Example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extLst>
                  <a:ext uri="{0D108BD9-81ED-4DB2-BD59-A6C34878D82A}">
                    <a16:rowId xmlns:a16="http://schemas.microsoft.com/office/drawing/2014/main" val="2652150002"/>
                  </a:ext>
                </a:extLst>
              </a:tr>
              <a:tr h="571500">
                <a:tc>
                  <a:txBody>
                    <a:bodyPr/>
                    <a:lstStyle/>
                    <a:p>
                      <a:pPr fontAlgn="base">
                        <a:lnSpc>
                          <a:spcPts val="1050"/>
                        </a:lnSpc>
                        <a:buNone/>
                      </a:pPr>
                      <a:r>
                        <a:rPr lang="en-US" sz="900" b="1">
                          <a:effectLst/>
                          <a:latin typeface="Univers" panose="020B0503020202020204" pitchFamily="34" charset="0"/>
                        </a:rPr>
                        <a:t>nameOrig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originating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C1231006815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7835514"/>
                  </a:ext>
                </a:extLst>
              </a:tr>
              <a:tr h="571500">
                <a:tc>
                  <a:txBody>
                    <a:bodyPr/>
                    <a:lstStyle/>
                    <a:p>
                      <a:pPr fontAlgn="base">
                        <a:lnSpc>
                          <a:spcPts val="1050"/>
                        </a:lnSpc>
                        <a:buNone/>
                      </a:pPr>
                      <a:r>
                        <a:rPr lang="en-US" sz="900" b="1">
                          <a:effectLst/>
                          <a:latin typeface="Univers" panose="020B0503020202020204" pitchFamily="34" charset="0"/>
                        </a:rPr>
                        <a:t>oldbalanceOrg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170136.00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5320910"/>
                  </a:ext>
                </a:extLst>
              </a:tr>
              <a:tr h="571500">
                <a:tc>
                  <a:txBody>
                    <a:bodyPr/>
                    <a:lstStyle/>
                    <a:p>
                      <a:pPr fontAlgn="base">
                        <a:lnSpc>
                          <a:spcPts val="1050"/>
                        </a:lnSpc>
                        <a:buNone/>
                      </a:pPr>
                      <a:r>
                        <a:rPr lang="en-US" sz="900" b="1">
                          <a:effectLst/>
                          <a:latin typeface="Univers" panose="020B0503020202020204" pitchFamily="34" charset="0"/>
                        </a:rPr>
                        <a:t>newbalanceOrig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169152.50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935973"/>
                  </a:ext>
                </a:extLst>
              </a:tr>
              <a:tr h="571500">
                <a:tc>
                  <a:txBody>
                    <a:bodyPr/>
                    <a:lstStyle/>
                    <a:p>
                      <a:pPr fontAlgn="base">
                        <a:lnSpc>
                          <a:spcPts val="1050"/>
                        </a:lnSpc>
                        <a:buNone/>
                      </a:pPr>
                      <a:r>
                        <a:rPr lang="en-US" sz="900" b="1">
                          <a:effectLst/>
                          <a:latin typeface="Univers" panose="020B0503020202020204" pitchFamily="34" charset="0"/>
                        </a:rPr>
                        <a:t>nameDest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destination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M1979787155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104215"/>
                  </a:ext>
                </a:extLst>
              </a:tr>
              <a:tr h="742950">
                <a:tc>
                  <a:txBody>
                    <a:bodyPr/>
                    <a:lstStyle/>
                    <a:p>
                      <a:pPr fontAlgn="base">
                        <a:lnSpc>
                          <a:spcPts val="1050"/>
                        </a:lnSpc>
                        <a:buNone/>
                      </a:pPr>
                      <a:r>
                        <a:rPr lang="en-US" sz="900" b="1">
                          <a:effectLst/>
                          <a:latin typeface="Univers" panose="020B0503020202020204" pitchFamily="34" charset="0"/>
                        </a:rPr>
                        <a:t>oldbalanceDest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0.00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1404537"/>
                  </a:ext>
                </a:extLst>
              </a:tr>
              <a:tr h="571500">
                <a:tc>
                  <a:txBody>
                    <a:bodyPr/>
                    <a:lstStyle/>
                    <a:p>
                      <a:pPr fontAlgn="base">
                        <a:lnSpc>
                          <a:spcPts val="1050"/>
                        </a:lnSpc>
                        <a:buNone/>
                      </a:pPr>
                      <a:r>
                        <a:rPr lang="en-US" sz="900" b="1">
                          <a:effectLst/>
                          <a:latin typeface="Univers" panose="020B0503020202020204" pitchFamily="34" charset="0"/>
                        </a:rPr>
                        <a:t>newbalanceDest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983.50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70456444"/>
                  </a:ext>
                </a:extLst>
              </a:tr>
            </a:tbl>
          </a:graphicData>
        </a:graphic>
      </p:graphicFrame>
    </p:spTree>
    <p:extLst>
      <p:ext uri="{BB962C8B-B14F-4D97-AF65-F5344CB8AC3E}">
        <p14:creationId xmlns:p14="http://schemas.microsoft.com/office/powerpoint/2010/main" val="42410119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BC65-88B5-FB6C-F237-FC49C83B2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28C50-7EF9-C5A2-840A-34213C4F78B2}"/>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8" name="Content Placeholder 7">
            <a:extLst>
              <a:ext uri="{FF2B5EF4-FFF2-40B4-BE49-F238E27FC236}">
                <a16:creationId xmlns:a16="http://schemas.microsoft.com/office/drawing/2014/main" id="{5E2052B7-4843-65C7-2CBD-1293B967B12A}"/>
              </a:ext>
            </a:extLst>
          </p:cNvPr>
          <p:cNvGraphicFramePr>
            <a:graphicFrameLocks noGrp="1"/>
          </p:cNvGraphicFramePr>
          <p:nvPr>
            <p:ph idx="1"/>
            <p:extLst>
              <p:ext uri="{D42A27DB-BD31-4B8C-83A1-F6EECF244321}">
                <p14:modId xmlns:p14="http://schemas.microsoft.com/office/powerpoint/2010/main" val="2305900399"/>
              </p:ext>
            </p:extLst>
          </p:nvPr>
        </p:nvGraphicFramePr>
        <p:xfrm>
          <a:off x="508000" y="2247900"/>
          <a:ext cx="11225272" cy="4183330"/>
        </p:xfrm>
        <a:graphic>
          <a:graphicData uri="http://schemas.openxmlformats.org/drawingml/2006/table">
            <a:tbl>
              <a:tblPr bandRow="1">
                <a:tableStyleId>{5C22544A-7EE6-4342-B048-85BDC9FD1C3A}</a:tableStyleId>
              </a:tblPr>
              <a:tblGrid>
                <a:gridCol w="2638696">
                  <a:extLst>
                    <a:ext uri="{9D8B030D-6E8A-4147-A177-3AD203B41FA5}">
                      <a16:colId xmlns:a16="http://schemas.microsoft.com/office/drawing/2014/main" val="4088680155"/>
                    </a:ext>
                  </a:extLst>
                </a:gridCol>
                <a:gridCol w="2822539">
                  <a:extLst>
                    <a:ext uri="{9D8B030D-6E8A-4147-A177-3AD203B41FA5}">
                      <a16:colId xmlns:a16="http://schemas.microsoft.com/office/drawing/2014/main" val="1728057290"/>
                    </a:ext>
                  </a:extLst>
                </a:gridCol>
                <a:gridCol w="3276742">
                  <a:extLst>
                    <a:ext uri="{9D8B030D-6E8A-4147-A177-3AD203B41FA5}">
                      <a16:colId xmlns:a16="http://schemas.microsoft.com/office/drawing/2014/main" val="1793420771"/>
                    </a:ext>
                  </a:extLst>
                </a:gridCol>
                <a:gridCol w="2487295">
                  <a:extLst>
                    <a:ext uri="{9D8B030D-6E8A-4147-A177-3AD203B41FA5}">
                      <a16:colId xmlns:a16="http://schemas.microsoft.com/office/drawing/2014/main" val="3935028951"/>
                    </a:ext>
                  </a:extLst>
                </a:gridCol>
              </a:tblGrid>
              <a:tr h="872135">
                <a:tc>
                  <a:txBody>
                    <a:bodyPr/>
                    <a:lstStyle/>
                    <a:p>
                      <a:pPr algn="l" fontAlgn="base">
                        <a:lnSpc>
                          <a:spcPts val="2775"/>
                        </a:lnSpc>
                        <a:buNone/>
                      </a:pPr>
                      <a:r>
                        <a:rPr lang="en-US" sz="2300" b="1" i="0" cap="all">
                          <a:solidFill>
                            <a:srgbClr val="000000"/>
                          </a:solidFill>
                          <a:effectLst/>
                          <a:latin typeface="Univers" panose="020B0503020202020204" pitchFamily="34" charset="0"/>
                        </a:rPr>
                        <a:t>Column Name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Data Type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Description</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Example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1746978315"/>
                  </a:ext>
                </a:extLst>
              </a:tr>
              <a:tr h="1220990">
                <a:tc>
                  <a:txBody>
                    <a:bodyPr/>
                    <a:lstStyle/>
                    <a:p>
                      <a:pPr algn="l" fontAlgn="base">
                        <a:lnSpc>
                          <a:spcPts val="2250"/>
                        </a:lnSpc>
                        <a:buNone/>
                      </a:pPr>
                      <a:r>
                        <a:rPr lang="en-US" sz="1900" b="1" i="0">
                          <a:solidFill>
                            <a:srgbClr val="000000"/>
                          </a:solidFill>
                          <a:effectLst/>
                          <a:latin typeface="Univers" panose="020B0503020202020204" pitchFamily="34" charset="0"/>
                        </a:rPr>
                        <a:t>isFraud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is fraudulent (1 = Fraud, 0 = Legit)</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925743"/>
                  </a:ext>
                </a:extLst>
              </a:tr>
              <a:tr h="1208532">
                <a:tc>
                  <a:txBody>
                    <a:bodyPr/>
                    <a:lstStyle/>
                    <a:p>
                      <a:pPr algn="l" fontAlgn="base">
                        <a:lnSpc>
                          <a:spcPts val="2250"/>
                        </a:lnSpc>
                        <a:buNone/>
                      </a:pPr>
                      <a:r>
                        <a:rPr lang="en-US" sz="1900" b="1" i="0">
                          <a:solidFill>
                            <a:srgbClr val="000000"/>
                          </a:solidFill>
                          <a:effectLst/>
                          <a:latin typeface="Univers" panose="020B0503020202020204" pitchFamily="34" charset="0"/>
                        </a:rPr>
                        <a:t>isFlaggedFraud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was flagged as fraud by the system</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3846063574"/>
                  </a:ext>
                </a:extLst>
              </a:tr>
            </a:tbl>
          </a:graphicData>
        </a:graphic>
      </p:graphicFrame>
      <p:sp>
        <p:nvSpPr>
          <p:cNvPr id="5" name="Title 1">
            <a:extLst>
              <a:ext uri="{FF2B5EF4-FFF2-40B4-BE49-F238E27FC236}">
                <a16:creationId xmlns:a16="http://schemas.microsoft.com/office/drawing/2014/main" id="{4905F94B-5DFB-E365-B6C8-1EB752AFEA5B}"/>
              </a:ext>
            </a:extLst>
          </p:cNvPr>
          <p:cNvSpPr>
            <a:spLocks noGrp="1"/>
          </p:cNvSpPr>
          <p:nvPr/>
        </p:nvSpPr>
        <p:spPr>
          <a:xfrm>
            <a:off x="1524000" y="1712843"/>
            <a:ext cx="9052560" cy="469017"/>
          </a:xfrm>
          <a:prstGeom prst="rect">
            <a:avLst/>
          </a:prstGeom>
        </p:spPr>
        <p:txBody>
          <a:bodyPr vert="horz" lIns="91440" tIns="45720" rIns="91440" bIns="45720" rtlCol="0" anchor="b" anchorCtr="0">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en-US" sz="2000"/>
              <a:t>Fraud Indicators</a:t>
            </a:r>
          </a:p>
        </p:txBody>
      </p:sp>
    </p:spTree>
    <p:extLst>
      <p:ext uri="{BB962C8B-B14F-4D97-AF65-F5344CB8AC3E}">
        <p14:creationId xmlns:p14="http://schemas.microsoft.com/office/powerpoint/2010/main" val="25099429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88C0-E5B3-90C1-C716-B81D8BE1A5D3}"/>
              </a:ext>
            </a:extLst>
          </p:cNvPr>
          <p:cNvSpPr>
            <a:spLocks noGrp="1"/>
          </p:cNvSpPr>
          <p:nvPr>
            <p:ph type="title"/>
          </p:nvPr>
        </p:nvSpPr>
        <p:spPr/>
        <p:txBody>
          <a:bodyPr/>
          <a:lstStyle/>
          <a:p>
            <a:r>
              <a:rPr lang="en-US"/>
              <a:t>Dataset visualization of raw data</a:t>
            </a:r>
          </a:p>
        </p:txBody>
      </p:sp>
      <p:pic>
        <p:nvPicPr>
          <p:cNvPr id="4" name="Content Placeholder 3" descr="A comparison of a graph and a diagram&#10;&#10;AI-generated content may be incorrect.">
            <a:extLst>
              <a:ext uri="{FF2B5EF4-FFF2-40B4-BE49-F238E27FC236}">
                <a16:creationId xmlns:a16="http://schemas.microsoft.com/office/drawing/2014/main" id="{A08B3A2E-8AAA-9D42-C943-3B491CC4E5FC}"/>
              </a:ext>
            </a:extLst>
          </p:cNvPr>
          <p:cNvPicPr>
            <a:picLocks noGrp="1" noChangeAspect="1"/>
          </p:cNvPicPr>
          <p:nvPr>
            <p:ph idx="1"/>
          </p:nvPr>
        </p:nvPicPr>
        <p:blipFill>
          <a:blip r:embed="rId2"/>
          <a:stretch>
            <a:fillRect/>
          </a:stretch>
        </p:blipFill>
        <p:spPr>
          <a:xfrm>
            <a:off x="857289" y="1708403"/>
            <a:ext cx="10227486" cy="4994723"/>
          </a:xfrm>
          <a:prstGeom prst="rect">
            <a:avLst/>
          </a:prstGeom>
        </p:spPr>
      </p:pic>
    </p:spTree>
    <p:extLst>
      <p:ext uri="{BB962C8B-B14F-4D97-AF65-F5344CB8AC3E}">
        <p14:creationId xmlns:p14="http://schemas.microsoft.com/office/powerpoint/2010/main" val="352257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3D43-0A42-7076-C0CC-5260FE9A2588}"/>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Exploratory Data Analysis and Model Development</a:t>
            </a:r>
          </a:p>
        </p:txBody>
      </p:sp>
    </p:spTree>
    <p:extLst>
      <p:ext uri="{BB962C8B-B14F-4D97-AF65-F5344CB8AC3E}">
        <p14:creationId xmlns:p14="http://schemas.microsoft.com/office/powerpoint/2010/main" val="3711536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C251-26CD-5891-A73F-41732CEA1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883B5-CF3D-7673-A785-99CD01F179EE}"/>
              </a:ext>
            </a:extLst>
          </p:cNvPr>
          <p:cNvSpPr>
            <a:spLocks noGrp="1"/>
          </p:cNvSpPr>
          <p:nvPr>
            <p:ph type="title"/>
          </p:nvPr>
        </p:nvSpPr>
        <p:spPr>
          <a:xfrm>
            <a:off x="1033272" y="347472"/>
            <a:ext cx="9875520" cy="1033272"/>
          </a:xfrm>
        </p:spPr>
        <p:txBody>
          <a:bodyPr anchor="ctr">
            <a:normAutofit/>
          </a:bodyPr>
          <a:lstStyle/>
          <a:p>
            <a:r>
              <a:rPr lang="en-US"/>
              <a:t>Exploratory Data Analysis (EDA)</a:t>
            </a:r>
          </a:p>
        </p:txBody>
      </p:sp>
      <p:graphicFrame>
        <p:nvGraphicFramePr>
          <p:cNvPr id="5" name="Content Placeholder 4">
            <a:extLst>
              <a:ext uri="{FF2B5EF4-FFF2-40B4-BE49-F238E27FC236}">
                <a16:creationId xmlns:a16="http://schemas.microsoft.com/office/drawing/2014/main" id="{ABE4D8D3-F829-BBED-2EF4-BB90FEC68A22}"/>
              </a:ext>
            </a:extLst>
          </p:cNvPr>
          <p:cNvGraphicFramePr>
            <a:graphicFrameLocks noGrp="1"/>
          </p:cNvGraphicFramePr>
          <p:nvPr>
            <p:ph idx="1"/>
            <p:extLst>
              <p:ext uri="{D42A27DB-BD31-4B8C-83A1-F6EECF244321}">
                <p14:modId xmlns:p14="http://schemas.microsoft.com/office/powerpoint/2010/main" val="2537673970"/>
              </p:ext>
            </p:extLst>
          </p:nvPr>
        </p:nvGraphicFramePr>
        <p:xfrm>
          <a:off x="1033272" y="1859492"/>
          <a:ext cx="9875520" cy="468157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Transaction Composition</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Cash Out 35.2 % , Payment 33.8 % ,</a:t>
                      </a:r>
                      <a:r>
                        <a:rPr lang="en-US" sz="2200" cap="none" spc="0" dirty="0" err="1">
                          <a:solidFill>
                            <a:schemeClr val="tx1"/>
                          </a:solidFill>
                        </a:rPr>
                        <a:t>Cash_In</a:t>
                      </a:r>
                      <a:r>
                        <a:rPr lang="en-US" sz="2200" cap="none" spc="0" dirty="0">
                          <a:solidFill>
                            <a:schemeClr val="tx1"/>
                          </a:solidFill>
                        </a:rPr>
                        <a:t> 22.9 % ,Transfer 8.4 % and Debit 0.7 % only.</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Volume of Transaction</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2200" cap="none" spc="0" dirty="0">
                          <a:solidFill>
                            <a:schemeClr val="tx1"/>
                          </a:solidFill>
                        </a:rPr>
                        <a:t>Transfer amount is highest count of outliers</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err="1">
                          <a:solidFill>
                            <a:schemeClr val="tx1"/>
                          </a:solidFill>
                        </a:rPr>
                        <a:t>Old_Orig</a:t>
                      </a:r>
                      <a:r>
                        <a:rPr lang="en-US" sz="2200" b="1" cap="none" spc="0" dirty="0">
                          <a:solidFill>
                            <a:schemeClr val="tx1"/>
                          </a:solidFill>
                        </a:rPr>
                        <a:t> Balance study</a:t>
                      </a:r>
                      <a:endParaRPr lang="en-US" dirty="0"/>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The fraud transaction appear when old balance is higher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182906246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571D-3C49-ADDF-C64C-7C28A5445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A8533-C746-BA98-C56E-6AB8638F841C}"/>
              </a:ext>
            </a:extLst>
          </p:cNvPr>
          <p:cNvSpPr>
            <a:spLocks noGrp="1"/>
          </p:cNvSpPr>
          <p:nvPr>
            <p:ph type="title"/>
          </p:nvPr>
        </p:nvSpPr>
        <p:spPr>
          <a:xfrm>
            <a:off x="1033272" y="347472"/>
            <a:ext cx="9875520" cy="103327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D473073B-F18C-4127-7ECF-C419322FA517}"/>
              </a:ext>
            </a:extLst>
          </p:cNvPr>
          <p:cNvSpPr txBox="1"/>
          <p:nvPr/>
        </p:nvSpPr>
        <p:spPr>
          <a:xfrm>
            <a:off x="3048000" y="34290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pic>
        <p:nvPicPr>
          <p:cNvPr id="7" name="Picture 6" descr="A pie chart with numbers and text&#10;&#10;AI-generated content may be incorrect.">
            <a:extLst>
              <a:ext uri="{FF2B5EF4-FFF2-40B4-BE49-F238E27FC236}">
                <a16:creationId xmlns:a16="http://schemas.microsoft.com/office/drawing/2014/main" id="{40A49F17-2998-F8E3-A339-4CB8AB15D634}"/>
              </a:ext>
            </a:extLst>
          </p:cNvPr>
          <p:cNvPicPr>
            <a:picLocks noChangeAspect="1"/>
          </p:cNvPicPr>
          <p:nvPr/>
        </p:nvPicPr>
        <p:blipFill>
          <a:blip r:embed="rId3"/>
          <a:stretch>
            <a:fillRect/>
          </a:stretch>
        </p:blipFill>
        <p:spPr>
          <a:xfrm>
            <a:off x="0" y="2081213"/>
            <a:ext cx="4495800" cy="3914775"/>
          </a:xfrm>
          <a:prstGeom prst="rect">
            <a:avLst/>
          </a:prstGeom>
        </p:spPr>
      </p:pic>
      <p:pic>
        <p:nvPicPr>
          <p:cNvPr id="8" name="Picture 7">
            <a:extLst>
              <a:ext uri="{FF2B5EF4-FFF2-40B4-BE49-F238E27FC236}">
                <a16:creationId xmlns:a16="http://schemas.microsoft.com/office/drawing/2014/main" id="{65EDEC32-7966-E375-1A3F-B5C1F1714747}"/>
              </a:ext>
            </a:extLst>
          </p:cNvPr>
          <p:cNvPicPr>
            <a:picLocks noChangeAspect="1"/>
          </p:cNvPicPr>
          <p:nvPr/>
        </p:nvPicPr>
        <p:blipFill>
          <a:blip r:embed="rId4"/>
          <a:stretch>
            <a:fillRect/>
          </a:stretch>
        </p:blipFill>
        <p:spPr>
          <a:xfrm>
            <a:off x="5770563" y="1871662"/>
            <a:ext cx="5400675" cy="4333875"/>
          </a:xfrm>
          <a:prstGeom prst="rect">
            <a:avLst/>
          </a:prstGeom>
        </p:spPr>
      </p:pic>
      <p:sp>
        <p:nvSpPr>
          <p:cNvPr id="3" name="TextBox 2">
            <a:extLst>
              <a:ext uri="{FF2B5EF4-FFF2-40B4-BE49-F238E27FC236}">
                <a16:creationId xmlns:a16="http://schemas.microsoft.com/office/drawing/2014/main" id="{8CBBE6FF-B000-D9CF-5085-2AE8BF8A02D8}"/>
              </a:ext>
            </a:extLst>
          </p:cNvPr>
          <p:cNvSpPr txBox="1"/>
          <p:nvPr/>
        </p:nvSpPr>
        <p:spPr>
          <a:xfrm>
            <a:off x="133350" y="62198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spTree>
    <p:extLst>
      <p:ext uri="{BB962C8B-B14F-4D97-AF65-F5344CB8AC3E}">
        <p14:creationId xmlns:p14="http://schemas.microsoft.com/office/powerpoint/2010/main" val="27799339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FAEB-9C5B-7A47-C6C3-735E35446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C779E-2658-AB5B-6317-2F0CAF11387C}"/>
              </a:ext>
            </a:extLst>
          </p:cNvPr>
          <p:cNvSpPr>
            <a:spLocks noGrp="1"/>
          </p:cNvSpPr>
          <p:nvPr>
            <p:ph type="title" idx="4294967295"/>
          </p:nvPr>
        </p:nvSpPr>
        <p:spPr>
          <a:xfrm>
            <a:off x="0" y="347663"/>
            <a:ext cx="9875838" cy="103346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4B34B218-8A06-4EFF-8A0D-BA90BF3CB900}"/>
              </a:ext>
            </a:extLst>
          </p:cNvPr>
          <p:cNvSpPr txBox="1"/>
          <p:nvPr/>
        </p:nvSpPr>
        <p:spPr>
          <a:xfrm>
            <a:off x="2997200" y="28575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sp>
        <p:nvSpPr>
          <p:cNvPr id="3" name="TextBox 2">
            <a:extLst>
              <a:ext uri="{FF2B5EF4-FFF2-40B4-BE49-F238E27FC236}">
                <a16:creationId xmlns:a16="http://schemas.microsoft.com/office/drawing/2014/main" id="{65D13F45-16A8-9471-AF0E-FB9A22441447}"/>
              </a:ext>
            </a:extLst>
          </p:cNvPr>
          <p:cNvSpPr txBox="1"/>
          <p:nvPr/>
        </p:nvSpPr>
        <p:spPr>
          <a:xfrm>
            <a:off x="19050" y="56610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pic>
        <p:nvPicPr>
          <p:cNvPr id="4" name="Picture 3" descr="A graph of a number of blue and orange bars&#10;&#10;AI-generated content may be incorrect.">
            <a:extLst>
              <a:ext uri="{FF2B5EF4-FFF2-40B4-BE49-F238E27FC236}">
                <a16:creationId xmlns:a16="http://schemas.microsoft.com/office/drawing/2014/main" id="{A3DAA696-9435-A009-36BB-125679A4F11B}"/>
              </a:ext>
            </a:extLst>
          </p:cNvPr>
          <p:cNvPicPr>
            <a:picLocks noChangeAspect="1"/>
          </p:cNvPicPr>
          <p:nvPr/>
        </p:nvPicPr>
        <p:blipFill>
          <a:blip r:embed="rId3"/>
          <a:stretch>
            <a:fillRect/>
          </a:stretch>
        </p:blipFill>
        <p:spPr>
          <a:xfrm>
            <a:off x="-46037" y="1147762"/>
            <a:ext cx="2809875" cy="2301875"/>
          </a:xfrm>
          <a:prstGeom prst="rect">
            <a:avLst/>
          </a:prstGeom>
        </p:spPr>
      </p:pic>
      <p:pic>
        <p:nvPicPr>
          <p:cNvPr id="5" name="Picture 4" descr="A graph of a number of objects&#10;&#10;AI-generated content may be incorrect.">
            <a:extLst>
              <a:ext uri="{FF2B5EF4-FFF2-40B4-BE49-F238E27FC236}">
                <a16:creationId xmlns:a16="http://schemas.microsoft.com/office/drawing/2014/main" id="{AF7BE899-1E40-6E80-12FE-06F7FA4D37E3}"/>
              </a:ext>
            </a:extLst>
          </p:cNvPr>
          <p:cNvPicPr>
            <a:picLocks noChangeAspect="1"/>
          </p:cNvPicPr>
          <p:nvPr/>
        </p:nvPicPr>
        <p:blipFill>
          <a:blip r:embed="rId4"/>
          <a:stretch>
            <a:fillRect/>
          </a:stretch>
        </p:blipFill>
        <p:spPr>
          <a:xfrm>
            <a:off x="2771775" y="1147762"/>
            <a:ext cx="2813050" cy="2301875"/>
          </a:xfrm>
          <a:prstGeom prst="rect">
            <a:avLst/>
          </a:prstGeom>
        </p:spPr>
      </p:pic>
      <p:pic>
        <p:nvPicPr>
          <p:cNvPr id="9" name="Picture 8" descr="A graph of a diagram&#10;&#10;AI-generated content may be incorrect.">
            <a:extLst>
              <a:ext uri="{FF2B5EF4-FFF2-40B4-BE49-F238E27FC236}">
                <a16:creationId xmlns:a16="http://schemas.microsoft.com/office/drawing/2014/main" id="{14B638A6-DB95-351B-4B60-C1EE426C34D7}"/>
              </a:ext>
            </a:extLst>
          </p:cNvPr>
          <p:cNvPicPr>
            <a:picLocks noChangeAspect="1"/>
          </p:cNvPicPr>
          <p:nvPr/>
        </p:nvPicPr>
        <p:blipFill>
          <a:blip r:embed="rId5"/>
          <a:stretch>
            <a:fillRect/>
          </a:stretch>
        </p:blipFill>
        <p:spPr>
          <a:xfrm>
            <a:off x="5591175" y="1147762"/>
            <a:ext cx="2813050" cy="2301875"/>
          </a:xfrm>
          <a:prstGeom prst="rect">
            <a:avLst/>
          </a:prstGeom>
        </p:spPr>
      </p:pic>
      <p:pic>
        <p:nvPicPr>
          <p:cNvPr id="10" name="Picture 9">
            <a:extLst>
              <a:ext uri="{FF2B5EF4-FFF2-40B4-BE49-F238E27FC236}">
                <a16:creationId xmlns:a16="http://schemas.microsoft.com/office/drawing/2014/main" id="{5E3ACCEC-26E7-D5A9-B291-6D6D1E7F3E68}"/>
              </a:ext>
            </a:extLst>
          </p:cNvPr>
          <p:cNvPicPr>
            <a:picLocks noChangeAspect="1"/>
          </p:cNvPicPr>
          <p:nvPr/>
        </p:nvPicPr>
        <p:blipFill>
          <a:blip r:embed="rId6"/>
          <a:stretch>
            <a:fillRect/>
          </a:stretch>
        </p:blipFill>
        <p:spPr>
          <a:xfrm>
            <a:off x="8410575" y="1147762"/>
            <a:ext cx="2800350" cy="2301875"/>
          </a:xfrm>
          <a:prstGeom prst="rect">
            <a:avLst/>
          </a:prstGeom>
        </p:spPr>
      </p:pic>
      <p:pic>
        <p:nvPicPr>
          <p:cNvPr id="11" name="Picture 10" descr="A graph with blue dots&#10;&#10;AI-generated content may be incorrect.">
            <a:extLst>
              <a:ext uri="{FF2B5EF4-FFF2-40B4-BE49-F238E27FC236}">
                <a16:creationId xmlns:a16="http://schemas.microsoft.com/office/drawing/2014/main" id="{F599159A-96C8-763D-2D77-5A69FE9895AE}"/>
              </a:ext>
            </a:extLst>
          </p:cNvPr>
          <p:cNvPicPr>
            <a:picLocks noChangeAspect="1"/>
          </p:cNvPicPr>
          <p:nvPr/>
        </p:nvPicPr>
        <p:blipFill>
          <a:blip r:embed="rId7"/>
          <a:stretch>
            <a:fillRect/>
          </a:stretch>
        </p:blipFill>
        <p:spPr>
          <a:xfrm>
            <a:off x="-41275" y="3451225"/>
            <a:ext cx="3041650" cy="2203450"/>
          </a:xfrm>
          <a:prstGeom prst="rect">
            <a:avLst/>
          </a:prstGeom>
        </p:spPr>
      </p:pic>
      <p:pic>
        <p:nvPicPr>
          <p:cNvPr id="12" name="Picture 11">
            <a:extLst>
              <a:ext uri="{FF2B5EF4-FFF2-40B4-BE49-F238E27FC236}">
                <a16:creationId xmlns:a16="http://schemas.microsoft.com/office/drawing/2014/main" id="{3E7F521B-ED75-78CD-EFC1-60D9BD1D4188}"/>
              </a:ext>
            </a:extLst>
          </p:cNvPr>
          <p:cNvPicPr>
            <a:picLocks noChangeAspect="1"/>
          </p:cNvPicPr>
          <p:nvPr/>
        </p:nvPicPr>
        <p:blipFill>
          <a:blip r:embed="rId8"/>
          <a:stretch>
            <a:fillRect/>
          </a:stretch>
        </p:blipFill>
        <p:spPr>
          <a:xfrm>
            <a:off x="3000375" y="3459162"/>
            <a:ext cx="2698750" cy="2187575"/>
          </a:xfrm>
          <a:prstGeom prst="rect">
            <a:avLst/>
          </a:prstGeom>
        </p:spPr>
      </p:pic>
      <p:pic>
        <p:nvPicPr>
          <p:cNvPr id="13" name="Picture 12" descr="A graph with blue lines&#10;&#10;AI-generated content may be incorrect.">
            <a:extLst>
              <a:ext uri="{FF2B5EF4-FFF2-40B4-BE49-F238E27FC236}">
                <a16:creationId xmlns:a16="http://schemas.microsoft.com/office/drawing/2014/main" id="{29996485-A231-BEC3-D4CF-E6C38262C95D}"/>
              </a:ext>
            </a:extLst>
          </p:cNvPr>
          <p:cNvPicPr>
            <a:picLocks noChangeAspect="1"/>
          </p:cNvPicPr>
          <p:nvPr/>
        </p:nvPicPr>
        <p:blipFill>
          <a:blip r:embed="rId9"/>
          <a:stretch>
            <a:fillRect/>
          </a:stretch>
        </p:blipFill>
        <p:spPr>
          <a:xfrm>
            <a:off x="5705475" y="3446462"/>
            <a:ext cx="2698750" cy="2187575"/>
          </a:xfrm>
          <a:prstGeom prst="rect">
            <a:avLst/>
          </a:prstGeom>
        </p:spPr>
      </p:pic>
      <p:pic>
        <p:nvPicPr>
          <p:cNvPr id="14" name="Picture 13" descr="A graph with numbers and a bar&#10;&#10;AI-generated content may be incorrect.">
            <a:extLst>
              <a:ext uri="{FF2B5EF4-FFF2-40B4-BE49-F238E27FC236}">
                <a16:creationId xmlns:a16="http://schemas.microsoft.com/office/drawing/2014/main" id="{284C4275-1FCF-D929-0C6D-982B4F0EAF28}"/>
              </a:ext>
            </a:extLst>
          </p:cNvPr>
          <p:cNvPicPr>
            <a:picLocks noChangeAspect="1"/>
          </p:cNvPicPr>
          <p:nvPr/>
        </p:nvPicPr>
        <p:blipFill>
          <a:blip r:embed="rId10"/>
          <a:stretch>
            <a:fillRect/>
          </a:stretch>
        </p:blipFill>
        <p:spPr>
          <a:xfrm>
            <a:off x="8410575" y="3433762"/>
            <a:ext cx="2800350" cy="2276475"/>
          </a:xfrm>
          <a:prstGeom prst="rect">
            <a:avLst/>
          </a:prstGeom>
        </p:spPr>
      </p:pic>
    </p:spTree>
    <p:extLst>
      <p:ext uri="{BB962C8B-B14F-4D97-AF65-F5344CB8AC3E}">
        <p14:creationId xmlns:p14="http://schemas.microsoft.com/office/powerpoint/2010/main" val="31184528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AB26-07F7-0D12-1197-1C0C03C984D0}"/>
              </a:ext>
            </a:extLst>
          </p:cNvPr>
          <p:cNvSpPr>
            <a:spLocks noGrp="1"/>
          </p:cNvSpPr>
          <p:nvPr>
            <p:ph type="title"/>
          </p:nvPr>
        </p:nvSpPr>
        <p:spPr>
          <a:xfrm>
            <a:off x="1033272" y="347472"/>
            <a:ext cx="9875520" cy="1033272"/>
          </a:xfrm>
        </p:spPr>
        <p:txBody>
          <a:bodyPr anchor="ctr">
            <a:normAutofit/>
          </a:bodyPr>
          <a:lstStyle/>
          <a:p>
            <a:r>
              <a:rPr lang="en-US" dirty="0"/>
              <a:t>Exploratory Data Analysis (EDA) Insight</a:t>
            </a:r>
          </a:p>
        </p:txBody>
      </p:sp>
      <p:graphicFrame>
        <p:nvGraphicFramePr>
          <p:cNvPr id="5" name="Content Placeholder 4">
            <a:extLst>
              <a:ext uri="{FF2B5EF4-FFF2-40B4-BE49-F238E27FC236}">
                <a16:creationId xmlns:a16="http://schemas.microsoft.com/office/drawing/2014/main" id="{17C9883F-99A8-4CA7-BF32-58DCCB5F7386}"/>
              </a:ext>
            </a:extLst>
          </p:cNvPr>
          <p:cNvGraphicFramePr>
            <a:graphicFrameLocks noGrp="1"/>
          </p:cNvGraphicFramePr>
          <p:nvPr>
            <p:ph idx="1"/>
            <p:extLst>
              <p:ext uri="{D42A27DB-BD31-4B8C-83A1-F6EECF244321}">
                <p14:modId xmlns:p14="http://schemas.microsoft.com/office/powerpoint/2010/main" val="3839022948"/>
              </p:ext>
            </p:extLst>
          </p:nvPr>
        </p:nvGraphicFramePr>
        <p:xfrm>
          <a:off x="908168" y="1711641"/>
          <a:ext cx="9875520" cy="535213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Top 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Count of Outliers</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Step: </a:t>
                      </a:r>
                      <a:r>
                        <a:rPr lang="en-US" sz="2200" b="1" cap="none" spc="0" dirty="0">
                          <a:solidFill>
                            <a:schemeClr val="tx1"/>
                          </a:solidFill>
                        </a:rPr>
                        <a:t>102688,</a:t>
                      </a:r>
                      <a:r>
                        <a:rPr lang="en-US" sz="2200" cap="none" spc="0" dirty="0">
                          <a:solidFill>
                            <a:schemeClr val="tx1"/>
                          </a:solidFill>
                        </a:rPr>
                        <a:t> Amount:</a:t>
                      </a:r>
                      <a:r>
                        <a:rPr lang="en-US" sz="2200" b="1" cap="none" spc="0" dirty="0">
                          <a:solidFill>
                            <a:schemeClr val="tx1"/>
                          </a:solidFill>
                        </a:rPr>
                        <a:t>338078</a:t>
                      </a:r>
                      <a:r>
                        <a:rPr lang="en-US" sz="2200" cap="none" spc="0" dirty="0">
                          <a:solidFill>
                            <a:schemeClr val="tx1"/>
                          </a:solidFill>
                        </a:rPr>
                        <a:t>,Oldbalanceorg : </a:t>
                      </a:r>
                      <a:r>
                        <a:rPr lang="en-US" sz="2200" b="1" cap="none" spc="0" dirty="0">
                          <a:solidFill>
                            <a:schemeClr val="tx1"/>
                          </a:solidFill>
                        </a:rPr>
                        <a:t>1112057</a:t>
                      </a:r>
                      <a:r>
                        <a:rPr lang="en-US" sz="2200" cap="none" spc="0" dirty="0">
                          <a:solidFill>
                            <a:schemeClr val="tx1"/>
                          </a:solidFill>
                        </a:rPr>
                        <a:t>,newbalance:</a:t>
                      </a:r>
                      <a:r>
                        <a:rPr lang="en-US" sz="2200" b="1" cap="none" spc="0" dirty="0">
                          <a:solidFill>
                            <a:schemeClr val="tx1"/>
                          </a:solidFill>
                        </a:rPr>
                        <a:t>1053391</a:t>
                      </a:r>
                      <a:r>
                        <a:rPr lang="en-US" sz="2200" cap="none" spc="0" dirty="0">
                          <a:solidFill>
                            <a:schemeClr val="tx1"/>
                          </a:solidFill>
                        </a:rPr>
                        <a:t>,oldbalDest: </a:t>
                      </a:r>
                      <a:r>
                        <a:rPr lang="en-US" sz="2200" b="1" cap="none" spc="0" dirty="0">
                          <a:solidFill>
                            <a:schemeClr val="tx1"/>
                          </a:solidFill>
                        </a:rPr>
                        <a:t>786135</a:t>
                      </a:r>
                      <a:r>
                        <a:rPr lang="en-US" sz="2200" cap="none" spc="0" dirty="0">
                          <a:solidFill>
                            <a:schemeClr val="tx1"/>
                          </a:solidFill>
                        </a:rPr>
                        <a:t>, newbalnceDest:</a:t>
                      </a:r>
                      <a:r>
                        <a:rPr lang="en-US" sz="2200" b="1" cap="none" spc="0" dirty="0">
                          <a:solidFill>
                            <a:schemeClr val="tx1"/>
                          </a:solidFill>
                        </a:rPr>
                        <a:t>738527</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Log Transformed Data plot</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buNone/>
                      </a:pPr>
                      <a:r>
                        <a:rPr lang="en-US" sz="2200" b="0" i="0" u="none" strike="noStrike" cap="none" spc="0" noProof="0" dirty="0">
                          <a:solidFill>
                            <a:schemeClr val="tx1"/>
                          </a:solidFill>
                          <a:latin typeface="Avenir Next LT Pro Light"/>
                        </a:rPr>
                        <a:t>In the above after Log Transformation, we can see data distribution was adjusted to the Center.</a:t>
                      </a:r>
                      <a:endParaRPr lang="en-US" dirty="0"/>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a:solidFill>
                            <a:schemeClr val="tx1"/>
                          </a:solidFill>
                        </a:rPr>
                        <a:t>Positive Correlation columns</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5 different combination show </a:t>
                      </a:r>
                      <a:r>
                        <a:rPr lang="en-US" sz="2200" cap="none" spc="0" dirty="0" err="1">
                          <a:solidFill>
                            <a:schemeClr val="tx1"/>
                          </a:solidFill>
                        </a:rPr>
                        <a:t>positve</a:t>
                      </a:r>
                      <a:r>
                        <a:rPr lang="en-US" sz="2200" cap="none" spc="0" dirty="0">
                          <a:solidFill>
                            <a:schemeClr val="tx1"/>
                          </a:solidFill>
                        </a:rPr>
                        <a:t> corr.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84446471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43B3BF-EE61-2AE6-CF04-FC8429D44F21}"/>
              </a:ext>
            </a:extLst>
          </p:cNvPr>
          <p:cNvSpPr>
            <a:spLocks noGrp="1"/>
          </p:cNvSpPr>
          <p:nvPr>
            <p:ph sz="quarter" idx="13"/>
          </p:nvPr>
        </p:nvSpPr>
        <p:spPr>
          <a:xfrm>
            <a:off x="629163" y="341513"/>
            <a:ext cx="10245510" cy="5917623"/>
          </a:xfrm>
        </p:spPr>
        <p:txBody>
          <a:bodyPr vert="horz" lIns="91440" tIns="45720" rIns="91440" bIns="45720" rtlCol="0" anchor="b">
            <a:noAutofit/>
          </a:bodyPr>
          <a:lstStyle/>
          <a:p>
            <a:r>
              <a:rPr lang="en-US" sz="1050" dirty="0">
                <a:ea typeface="+mj-lt"/>
                <a:cs typeface="+mj-lt"/>
              </a:rPr>
              <a:t>Chart 1</a:t>
            </a:r>
            <a:r>
              <a:rPr lang="en-US" sz="1050" b="0" dirty="0">
                <a:ea typeface="+mj-lt"/>
                <a:cs typeface="+mj-lt"/>
              </a:rPr>
              <a:t>: We can see more transactions are Cashout type, and in graph we are unable to see the Fraud Transaction count, because the Fraud rate is very less</a:t>
            </a:r>
            <a:endParaRPr lang="en-US" sz="1050"/>
          </a:p>
          <a:p>
            <a:r>
              <a:rPr lang="en-US" sz="1050" dirty="0">
                <a:ea typeface="+mj-lt"/>
                <a:cs typeface="+mj-lt"/>
              </a:rPr>
              <a:t>Chart 2</a:t>
            </a:r>
            <a:r>
              <a:rPr lang="en-US" sz="1050" b="0" dirty="0">
                <a:ea typeface="+mj-lt"/>
                <a:cs typeface="+mj-lt"/>
              </a:rPr>
              <a:t>: We can see more outliers are in the 'transfer' type of Transactions</a:t>
            </a:r>
            <a:endParaRPr lang="en-US" sz="1050"/>
          </a:p>
          <a:p>
            <a:r>
              <a:rPr lang="en-US" sz="1050" dirty="0">
                <a:ea typeface="+mj-lt"/>
                <a:cs typeface="+mj-lt"/>
              </a:rPr>
              <a:t>Chart 3</a:t>
            </a:r>
            <a:r>
              <a:rPr lang="en-US" sz="1050" b="0" dirty="0">
                <a:ea typeface="+mj-lt"/>
                <a:cs typeface="+mj-lt"/>
              </a:rPr>
              <a:t>: In this chart we can observe that </a:t>
            </a:r>
            <a:r>
              <a:rPr lang="en-US" sz="1050" b="0" err="1">
                <a:ea typeface="+mj-lt"/>
                <a:cs typeface="+mj-lt"/>
              </a:rPr>
              <a:t>Non_Fraud</a:t>
            </a:r>
            <a:r>
              <a:rPr lang="en-US" sz="1050" b="0" dirty="0">
                <a:ea typeface="+mj-lt"/>
                <a:cs typeface="+mj-lt"/>
              </a:rPr>
              <a:t> Transactions have more Outliers, and Fraud transactions also have outliers</a:t>
            </a:r>
          </a:p>
          <a:p>
            <a:pPr>
              <a:lnSpc>
                <a:spcPct val="120000"/>
              </a:lnSpc>
            </a:pPr>
            <a:r>
              <a:rPr lang="en-US" sz="1050" dirty="0">
                <a:ea typeface="+mj-lt"/>
                <a:cs typeface="+mj-lt"/>
              </a:rPr>
              <a:t>Chart 4</a:t>
            </a:r>
            <a:r>
              <a:rPr lang="en-US" sz="1050" b="0" dirty="0">
                <a:ea typeface="+mj-lt"/>
                <a:cs typeface="+mj-lt"/>
              </a:rPr>
              <a:t>: This chart shows that most transactions have either a low amount or low originating balance, but there are a few transactions with extremely high values for both. These extreme points suggest the presence of significant outliers in your data.</a:t>
            </a:r>
          </a:p>
          <a:p>
            <a:pPr>
              <a:lnSpc>
                <a:spcPct val="120000"/>
              </a:lnSpc>
            </a:pPr>
            <a:r>
              <a:rPr lang="en-US" sz="1050" dirty="0">
                <a:ea typeface="+mj-lt"/>
                <a:cs typeface="+mj-lt"/>
              </a:rPr>
              <a:t>Chart 5</a:t>
            </a:r>
            <a:r>
              <a:rPr lang="en-US" sz="1050" b="0" dirty="0">
                <a:ea typeface="+mj-lt"/>
                <a:cs typeface="+mj-lt"/>
              </a:rPr>
              <a:t>: This chart shows that the new balance of the originator is strongly correlated with the old balance, forming a linear pattern. Most transactions result in a reduction of balance, and very few points deviate from this trend, suggesting typical transaction behavior without many anomalies.</a:t>
            </a:r>
          </a:p>
          <a:p>
            <a:pPr>
              <a:lnSpc>
                <a:spcPct val="120000"/>
              </a:lnSpc>
            </a:pPr>
            <a:r>
              <a:rPr lang="en-US" sz="1050" dirty="0">
                <a:ea typeface="+mj-lt"/>
                <a:cs typeface="+mj-lt"/>
              </a:rPr>
              <a:t>Chart 6</a:t>
            </a:r>
            <a:r>
              <a:rPr lang="en-US" sz="1050" b="0" dirty="0">
                <a:ea typeface="+mj-lt"/>
                <a:cs typeface="+mj-lt"/>
              </a:rPr>
              <a:t>: This chart reveals that transactions flagged as fraud involve much higher total amounts compared to those not flagged. It suggests that the fraud detection system mainly targets large-scale transactions.</a:t>
            </a:r>
          </a:p>
          <a:p>
            <a:pPr>
              <a:lnSpc>
                <a:spcPct val="120000"/>
              </a:lnSpc>
            </a:pPr>
            <a:r>
              <a:rPr lang="en-US" sz="1050" dirty="0">
                <a:ea typeface="+mj-lt"/>
                <a:cs typeface="+mj-lt"/>
              </a:rPr>
              <a:t>Chart 7</a:t>
            </a:r>
            <a:r>
              <a:rPr lang="en-US" sz="1050" b="0" dirty="0">
                <a:ea typeface="+mj-lt"/>
                <a:cs typeface="+mj-lt"/>
              </a:rPr>
              <a:t>: Chart shows that the number of fraud incidents fluctuates over different time steps without a clear upward or downward trend. Fraud occurrences are spread fairly evenly, suggesting no specific temporal patterns or spikes.</a:t>
            </a:r>
          </a:p>
          <a:p>
            <a:pPr>
              <a:lnSpc>
                <a:spcPct val="120000"/>
              </a:lnSpc>
            </a:pPr>
            <a:r>
              <a:rPr lang="en-US" sz="1050" dirty="0">
                <a:ea typeface="+mj-lt"/>
                <a:cs typeface="+mj-lt"/>
              </a:rPr>
              <a:t>Chart 8</a:t>
            </a:r>
            <a:r>
              <a:rPr lang="en-US" sz="1050" b="0" dirty="0">
                <a:ea typeface="+mj-lt"/>
                <a:cs typeface="+mj-lt"/>
              </a:rPr>
              <a:t>: In this pie chart we can see more number of Transactions comes under the '</a:t>
            </a:r>
            <a:r>
              <a:rPr lang="en-US" sz="1050" b="0" dirty="0" err="1">
                <a:ea typeface="+mj-lt"/>
                <a:cs typeface="+mj-lt"/>
              </a:rPr>
              <a:t>Cashout_type</a:t>
            </a:r>
            <a:r>
              <a:rPr lang="en-US" sz="1050" b="0" dirty="0">
                <a:ea typeface="+mj-lt"/>
                <a:cs typeface="+mj-lt"/>
              </a:rPr>
              <a:t>', and after this 'Payment' respectively</a:t>
            </a:r>
          </a:p>
          <a:p>
            <a:pPr>
              <a:lnSpc>
                <a:spcPct val="120000"/>
              </a:lnSpc>
            </a:pPr>
            <a:r>
              <a:rPr lang="en-US" sz="1050" dirty="0">
                <a:ea typeface="+mj-lt"/>
                <a:cs typeface="+mj-lt"/>
              </a:rPr>
              <a:t>Chart 9</a:t>
            </a:r>
            <a:r>
              <a:rPr lang="en-US" sz="1050" b="0" dirty="0">
                <a:ea typeface="+mj-lt"/>
                <a:cs typeface="+mj-lt"/>
              </a:rPr>
              <a:t>: This violin chart shows that transaction amounts vary greatly by type, with "TRANSFER" and "CASH_OUT" having the widest range and extreme outliers. Most transaction types have many small values, but a few very large amounts, especially for transfers.</a:t>
            </a:r>
          </a:p>
          <a:p>
            <a:pPr>
              <a:lnSpc>
                <a:spcPct val="120000"/>
              </a:lnSpc>
            </a:pPr>
            <a:r>
              <a:rPr lang="en-US" sz="1050" dirty="0">
                <a:ea typeface="+mj-lt"/>
                <a:cs typeface="+mj-lt"/>
              </a:rPr>
              <a:t>Chart 10</a:t>
            </a:r>
            <a:r>
              <a:rPr lang="en-US" sz="1050" b="0" dirty="0">
                <a:ea typeface="+mj-lt"/>
                <a:cs typeface="+mj-lt"/>
              </a:rPr>
              <a:t>: This chart shows that most transactions, including both fraud and non-fraud, have low amounts, but there are occasional very large amounts, indicating significant outliers especially among non-fraud cases. The count of low-value transactions is overwhelmingly high.</a:t>
            </a:r>
          </a:p>
          <a:p>
            <a:pPr>
              <a:lnSpc>
                <a:spcPct val="120000"/>
              </a:lnSpc>
            </a:pPr>
            <a:r>
              <a:rPr lang="en-US" sz="1050" dirty="0">
                <a:ea typeface="+mj-lt"/>
                <a:cs typeface="+mj-lt"/>
              </a:rPr>
              <a:t>Chart 11</a:t>
            </a:r>
            <a:r>
              <a:rPr lang="en-US" sz="1050" b="0" dirty="0">
                <a:ea typeface="+mj-lt"/>
                <a:cs typeface="+mj-lt"/>
              </a:rPr>
              <a:t>: Most transactions, whether fraudulent or not, originate from accounts with low balances, but fraudulent transactions tend to come from accounts with slightly higher old balances.</a:t>
            </a:r>
          </a:p>
          <a:p>
            <a:pPr>
              <a:lnSpc>
                <a:spcPct val="120000"/>
              </a:lnSpc>
            </a:pPr>
            <a:r>
              <a:rPr lang="en-US" sz="1050" dirty="0">
                <a:ea typeface="+mj-lt"/>
                <a:cs typeface="+mj-lt"/>
              </a:rPr>
              <a:t>Chart 12</a:t>
            </a:r>
            <a:r>
              <a:rPr lang="en-US" sz="1050" b="0" dirty="0">
                <a:ea typeface="+mj-lt"/>
                <a:cs typeface="+mj-lt"/>
              </a:rPr>
              <a:t>: In the heatmap we can see 'New Balance </a:t>
            </a:r>
            <a:r>
              <a:rPr lang="en-US" sz="1050" b="0" err="1">
                <a:ea typeface="+mj-lt"/>
                <a:cs typeface="+mj-lt"/>
              </a:rPr>
              <a:t>Orig</a:t>
            </a:r>
            <a:r>
              <a:rPr lang="en-US" sz="1050" b="0" dirty="0">
                <a:ea typeface="+mj-lt"/>
                <a:cs typeface="+mj-lt"/>
              </a:rPr>
              <a:t>' is highly correlated with the 'Old Balance Org' and 'New Balance Dest' is highly correlated with the 'Old Balance Dest'</a:t>
            </a:r>
          </a:p>
        </p:txBody>
      </p:sp>
    </p:spTree>
    <p:extLst>
      <p:ext uri="{BB962C8B-B14F-4D97-AF65-F5344CB8AC3E}">
        <p14:creationId xmlns:p14="http://schemas.microsoft.com/office/powerpoint/2010/main" val="2293822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EA5A21-484F-2E64-E182-DBDC2AD22236}"/>
              </a:ext>
            </a:extLst>
          </p:cNvPr>
          <p:cNvSpPr>
            <a:spLocks noGrp="1"/>
          </p:cNvSpPr>
          <p:nvPr>
            <p:ph type="title"/>
          </p:nvPr>
        </p:nvSpPr>
        <p:spPr/>
        <p:txBody>
          <a:bodyPr>
            <a:normAutofit fontScale="90000"/>
          </a:bodyPr>
          <a:lstStyle/>
          <a:p>
            <a:r>
              <a:rPr lang="en-US" b="0" dirty="0">
                <a:ea typeface="+mj-lt"/>
                <a:cs typeface="+mj-lt"/>
              </a:rPr>
              <a:t>Correlation Heatmap with the encoded transaction types.</a:t>
            </a:r>
            <a:endParaRPr lang="en-US" dirty="0"/>
          </a:p>
        </p:txBody>
      </p:sp>
      <p:pic>
        <p:nvPicPr>
          <p:cNvPr id="4" name="Content Placeholder 3" descr="A red and blue squares&#10;&#10;AI-generated content may be incorrect.">
            <a:extLst>
              <a:ext uri="{FF2B5EF4-FFF2-40B4-BE49-F238E27FC236}">
                <a16:creationId xmlns:a16="http://schemas.microsoft.com/office/drawing/2014/main" id="{DA26E93A-24BF-79D6-851F-4F18463B2BEB}"/>
              </a:ext>
            </a:extLst>
          </p:cNvPr>
          <p:cNvPicPr>
            <a:picLocks noGrp="1" noChangeAspect="1"/>
          </p:cNvPicPr>
          <p:nvPr>
            <p:ph sz="quarter" idx="14"/>
          </p:nvPr>
        </p:nvPicPr>
        <p:blipFill>
          <a:blip r:embed="rId2"/>
          <a:stretch>
            <a:fillRect/>
          </a:stretch>
        </p:blipFill>
        <p:spPr>
          <a:xfrm>
            <a:off x="109538" y="147514"/>
            <a:ext cx="7540094" cy="6198906"/>
          </a:xfrm>
          <a:prstGeom prst="rect">
            <a:avLst/>
          </a:prstGeom>
          <a:noFill/>
        </p:spPr>
      </p:pic>
      <p:graphicFrame>
        <p:nvGraphicFramePr>
          <p:cNvPr id="8" name="Content Placeholder 4">
            <a:extLst>
              <a:ext uri="{FF2B5EF4-FFF2-40B4-BE49-F238E27FC236}">
                <a16:creationId xmlns:a16="http://schemas.microsoft.com/office/drawing/2014/main" id="{8B01E25B-1E4C-F403-99A4-5EE69D80F7F6}"/>
              </a:ext>
            </a:extLst>
          </p:cNvPr>
          <p:cNvGraphicFramePr>
            <a:graphicFrameLocks/>
          </p:cNvGraphicFramePr>
          <p:nvPr>
            <p:extLst>
              <p:ext uri="{D42A27DB-BD31-4B8C-83A1-F6EECF244321}">
                <p14:modId xmlns:p14="http://schemas.microsoft.com/office/powerpoint/2010/main" val="998712039"/>
              </p:ext>
            </p:extLst>
          </p:nvPr>
        </p:nvGraphicFramePr>
        <p:xfrm>
          <a:off x="7694083" y="1883833"/>
          <a:ext cx="4301201" cy="2606970"/>
        </p:xfrm>
        <a:graphic>
          <a:graphicData uri="http://schemas.openxmlformats.org/drawingml/2006/table">
            <a:tbl>
              <a:tblPr firstRow="1" bandRow="1">
                <a:tableStyleId>{5C22544A-7EE6-4342-B048-85BDC9FD1C3A}</a:tableStyleId>
              </a:tblPr>
              <a:tblGrid>
                <a:gridCol w="2014864">
                  <a:extLst>
                    <a:ext uri="{9D8B030D-6E8A-4147-A177-3AD203B41FA5}">
                      <a16:colId xmlns:a16="http://schemas.microsoft.com/office/drawing/2014/main" val="1416940205"/>
                    </a:ext>
                  </a:extLst>
                </a:gridCol>
                <a:gridCol w="1488794">
                  <a:extLst>
                    <a:ext uri="{9D8B030D-6E8A-4147-A177-3AD203B41FA5}">
                      <a16:colId xmlns:a16="http://schemas.microsoft.com/office/drawing/2014/main" val="1086701103"/>
                    </a:ext>
                  </a:extLst>
                </a:gridCol>
                <a:gridCol w="797543">
                  <a:extLst>
                    <a:ext uri="{9D8B030D-6E8A-4147-A177-3AD203B41FA5}">
                      <a16:colId xmlns:a16="http://schemas.microsoft.com/office/drawing/2014/main" val="858243092"/>
                    </a:ext>
                  </a:extLst>
                </a:gridCol>
              </a:tblGrid>
              <a:tr h="434495">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434495">
                <a:tc>
                  <a:txBody>
                    <a:bodyPr/>
                    <a:lstStyle/>
                    <a:p>
                      <a:pPr algn="ctr">
                        <a:buNone/>
                      </a:pPr>
                      <a:r>
                        <a:rPr lang="en-US" sz="1250" b="0" u="none" strike="noStrike" err="1">
                          <a:solidFill>
                            <a:srgbClr val="000000"/>
                          </a:solidFill>
                          <a:effectLst/>
                          <a:latin typeface="Aptos Narrow"/>
                        </a:rPr>
                        <a:t>oldbalanceOrg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newbalanceOrig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434495">
                <a:tc>
                  <a:txBody>
                    <a:bodyPr/>
                    <a:lstStyle/>
                    <a:p>
                      <a:pPr algn="ctr">
                        <a:buNone/>
                      </a:pPr>
                      <a:r>
                        <a:rPr lang="en-US" sz="1250" b="0" u="none" strike="noStrike" err="1">
                          <a:solidFill>
                            <a:srgbClr val="000000"/>
                          </a:solidFill>
                          <a:effectLst/>
                          <a:latin typeface="Aptos Narrow"/>
                        </a:rPr>
                        <a:t>oldbalanceDest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newbalanceDest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434495">
                <a:tc>
                  <a:txBody>
                    <a:bodyPr/>
                    <a:lstStyle/>
                    <a:p>
                      <a:pPr algn="ctr">
                        <a:buNone/>
                      </a:pPr>
                      <a:r>
                        <a:rPr lang="en-US" sz="1250" b="0" u="none" strike="noStrike" err="1">
                          <a:solidFill>
                            <a:srgbClr val="000000"/>
                          </a:solidFill>
                          <a:effectLst/>
                          <a:latin typeface="Aptos Narrow"/>
                        </a:rPr>
                        <a:t>dest_zero_balance_flag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type_PAYMENT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434495">
                <a:tc>
                  <a:txBody>
                    <a:bodyPr/>
                    <a:lstStyle/>
                    <a:p>
                      <a:pPr algn="ctr">
                        <a:buNone/>
                      </a:pPr>
                      <a:r>
                        <a:rPr lang="en-US" sz="125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dest_balance_diff</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434495">
                <a:tc>
                  <a:txBody>
                    <a:bodyPr/>
                    <a:lstStyle/>
                    <a:p>
                      <a:pPr algn="ctr">
                        <a:buNone/>
                      </a:pPr>
                      <a:r>
                        <a:rPr lang="en-US" sz="1250" b="0" u="none" strike="noStrike" err="1">
                          <a:solidFill>
                            <a:srgbClr val="000000"/>
                          </a:solidFill>
                          <a:effectLst/>
                          <a:latin typeface="Aptos Narrow"/>
                        </a:rPr>
                        <a:t>amount_to_orig_balance_ratio</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endParaRPr lang="en-US" sz="125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69934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2D3BA29-64CD-278A-4BB4-6F05A67E2CA8}"/>
              </a:ext>
            </a:extLst>
          </p:cNvPr>
          <p:cNvGraphicFramePr>
            <a:graphicFrameLocks noGrp="1"/>
          </p:cNvGraphicFramePr>
          <p:nvPr>
            <p:ph sz="quarter" idx="13"/>
            <p:extLst>
              <p:ext uri="{D42A27DB-BD31-4B8C-83A1-F6EECF244321}">
                <p14:modId xmlns:p14="http://schemas.microsoft.com/office/powerpoint/2010/main" val="689384398"/>
              </p:ext>
            </p:extLst>
          </p:nvPr>
        </p:nvGraphicFramePr>
        <p:xfrm>
          <a:off x="731520" y="956634"/>
          <a:ext cx="10863073" cy="3499980"/>
        </p:xfrm>
        <a:graphic>
          <a:graphicData uri="http://schemas.openxmlformats.org/drawingml/2006/table">
            <a:tbl>
              <a:tblPr firstRow="1" bandRow="1">
                <a:tableStyleId>{5C22544A-7EE6-4342-B048-85BDC9FD1C3A}</a:tableStyleId>
              </a:tblPr>
              <a:tblGrid>
                <a:gridCol w="5088721">
                  <a:extLst>
                    <a:ext uri="{9D8B030D-6E8A-4147-A177-3AD203B41FA5}">
                      <a16:colId xmlns:a16="http://schemas.microsoft.com/office/drawing/2014/main" val="1416940205"/>
                    </a:ext>
                  </a:extLst>
                </a:gridCol>
                <a:gridCol w="3760084">
                  <a:extLst>
                    <a:ext uri="{9D8B030D-6E8A-4147-A177-3AD203B41FA5}">
                      <a16:colId xmlns:a16="http://schemas.microsoft.com/office/drawing/2014/main" val="1086701103"/>
                    </a:ext>
                  </a:extLst>
                </a:gridCol>
                <a:gridCol w="2014268">
                  <a:extLst>
                    <a:ext uri="{9D8B030D-6E8A-4147-A177-3AD203B41FA5}">
                      <a16:colId xmlns:a16="http://schemas.microsoft.com/office/drawing/2014/main" val="858243092"/>
                    </a:ext>
                  </a:extLst>
                </a:gridCol>
              </a:tblGrid>
              <a:tr h="583330">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583330">
                <a:tc>
                  <a:txBody>
                    <a:bodyPr/>
                    <a:lstStyle/>
                    <a:p>
                      <a:pPr>
                        <a:buNone/>
                      </a:pPr>
                      <a:r>
                        <a:rPr lang="en-US" sz="3100" b="0" u="none" strike="noStrike" dirty="0" err="1">
                          <a:solidFill>
                            <a:srgbClr val="000000"/>
                          </a:solidFill>
                          <a:effectLst/>
                          <a:latin typeface="Aptos Narrow"/>
                        </a:rPr>
                        <a:t>oldbalanceOrg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newbalanceOrig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chemeClr val="tx1"/>
                          </a:solidFill>
                          <a:effectLst/>
                          <a:highlight>
                            <a:srgbClr val="00FF00"/>
                          </a:highligh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583330">
                <a:tc>
                  <a:txBody>
                    <a:bodyPr/>
                    <a:lstStyle/>
                    <a:p>
                      <a:pPr>
                        <a:buNone/>
                      </a:pPr>
                      <a:r>
                        <a:rPr lang="en-US" sz="3100" b="0" u="none" strike="noStrike" dirty="0" err="1">
                          <a:solidFill>
                            <a:srgbClr val="000000"/>
                          </a:solidFill>
                          <a:effectLst/>
                          <a:latin typeface="Aptos Narrow"/>
                        </a:rPr>
                        <a:t>oldbalanceDest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newbalanceDest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highlight>
                            <a:srgbClr val="00FF00"/>
                          </a:highligh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583330">
                <a:tc>
                  <a:txBody>
                    <a:bodyPr/>
                    <a:lstStyle/>
                    <a:p>
                      <a:pPr>
                        <a:buNone/>
                      </a:pPr>
                      <a:r>
                        <a:rPr lang="en-US" sz="3100" b="0" u="none" strike="noStrike" dirty="0" err="1">
                          <a:solidFill>
                            <a:srgbClr val="000000"/>
                          </a:solidFill>
                          <a:effectLst/>
                          <a:latin typeface="Aptos Narrow"/>
                        </a:rPr>
                        <a:t>dest_zero_balance_flag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type_PAYMENT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a:t>
                      </a:r>
                      <a:r>
                        <a:rPr lang="en-US" sz="3100" b="0" u="none" strike="noStrike" dirty="0">
                          <a:solidFill>
                            <a:srgbClr val="000000"/>
                          </a:solidFill>
                          <a:effectLst/>
                          <a:highlight>
                            <a:srgbClr val="00FF00"/>
                          </a:highlight>
                          <a:latin typeface="Aptos Narrow"/>
                        </a:rPr>
                        <a:t>.944407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583330">
                <a:tc>
                  <a:txBody>
                    <a:bodyPr/>
                    <a:lstStyle/>
                    <a:p>
                      <a:pPr>
                        <a:buNone/>
                      </a:pPr>
                      <a:r>
                        <a:rPr lang="en-US" sz="310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dest_balance_diff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583330">
                <a:tc>
                  <a:txBody>
                    <a:bodyPr/>
                    <a:lstStyle/>
                    <a:p>
                      <a:pPr>
                        <a:buNone/>
                      </a:pPr>
                      <a:r>
                        <a:rPr lang="en-US" sz="3100" b="0" u="none" strike="noStrike" dirty="0" err="1">
                          <a:solidFill>
                            <a:srgbClr val="000000"/>
                          </a:solidFill>
                          <a:effectLst/>
                          <a:latin typeface="Aptos Narrow"/>
                        </a:rPr>
                        <a:t>amount_to_orig_balance_ratio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endParaRPr lang="en-US" sz="310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3360252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96B9-849D-C1DB-D597-D4B99CA15E77}"/>
              </a:ext>
            </a:extLst>
          </p:cNvPr>
          <p:cNvSpPr>
            <a:spLocks noGrp="1"/>
          </p:cNvSpPr>
          <p:nvPr>
            <p:ph type="title"/>
          </p:nvPr>
        </p:nvSpPr>
        <p:spPr>
          <a:xfrm>
            <a:off x="731520" y="312572"/>
            <a:ext cx="6858000" cy="923544"/>
          </a:xfrm>
        </p:spPr>
        <p:txBody>
          <a:bodyPr anchor="b">
            <a:normAutofit/>
          </a:bodyPr>
          <a:lstStyle/>
          <a:p>
            <a:r>
              <a:rPr lang="en-US" dirty="0"/>
              <a:t>Model selection preprocessing observation.</a:t>
            </a:r>
          </a:p>
        </p:txBody>
      </p:sp>
      <p:sp>
        <p:nvSpPr>
          <p:cNvPr id="4" name="Content Placeholder 3">
            <a:extLst>
              <a:ext uri="{FF2B5EF4-FFF2-40B4-BE49-F238E27FC236}">
                <a16:creationId xmlns:a16="http://schemas.microsoft.com/office/drawing/2014/main" id="{6FE0CAF0-AEFA-2C0D-D7EE-E0118C9EDA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marL="0" indent="0">
              <a:spcBef>
                <a:spcPts val="2500"/>
              </a:spcBef>
              <a:buNone/>
            </a:pPr>
            <a:r>
              <a:rPr lang="en-US" b="1" dirty="0"/>
              <a:t> </a:t>
            </a:r>
            <a:r>
              <a:rPr lang="en-US" b="1" u="sng" dirty="0"/>
              <a:t>SMOTE</a:t>
            </a:r>
          </a:p>
          <a:p>
            <a:pPr>
              <a:buFont typeface="Arial"/>
              <a:buChar char="•"/>
            </a:pPr>
            <a:r>
              <a:rPr lang="en-US" dirty="0">
                <a:ea typeface="+mn-lt"/>
                <a:cs typeface="+mn-lt"/>
              </a:rPr>
              <a:t>To Handle this Imbalance, we have </a:t>
            </a:r>
            <a:r>
              <a:rPr lang="en-US" dirty="0" err="1">
                <a:ea typeface="+mn-lt"/>
                <a:cs typeface="+mn-lt"/>
              </a:rPr>
              <a:t>previousely</a:t>
            </a:r>
            <a:r>
              <a:rPr lang="en-US" dirty="0">
                <a:ea typeface="+mn-lt"/>
                <a:cs typeface="+mn-lt"/>
              </a:rPr>
              <a:t> used 'SMOTE', but SMOTE made our Training data from 5+ Million Rows to 10+ Million Rows. Due to this the models like '</a:t>
            </a:r>
            <a:r>
              <a:rPr lang="en-US" dirty="0" err="1">
                <a:ea typeface="+mn-lt"/>
                <a:cs typeface="+mn-lt"/>
              </a:rPr>
              <a:t>RandomForest</a:t>
            </a:r>
            <a:r>
              <a:rPr lang="en-US" dirty="0">
                <a:ea typeface="+mn-lt"/>
                <a:cs typeface="+mn-lt"/>
              </a:rPr>
              <a:t>, </a:t>
            </a:r>
            <a:r>
              <a:rPr lang="en-US" dirty="0" err="1">
                <a:ea typeface="+mn-lt"/>
                <a:cs typeface="+mn-lt"/>
              </a:rPr>
              <a:t>RandomForest</a:t>
            </a:r>
            <a:r>
              <a:rPr lang="en-US" dirty="0">
                <a:ea typeface="+mn-lt"/>
                <a:cs typeface="+mn-lt"/>
              </a:rPr>
              <a:t> With the Randomized Search CV' are demanding more Computational Power, Due to this Reason we are not doing SMOTE in this Optimized Project.</a:t>
            </a:r>
          </a:p>
          <a:p>
            <a:pPr marL="0" indent="0">
              <a:buNone/>
            </a:pPr>
            <a:r>
              <a:rPr lang="en-US" sz="1600" b="1" dirty="0"/>
              <a:t> </a:t>
            </a:r>
            <a:r>
              <a:rPr lang="en-US" sz="1600" b="1" u="sng" dirty="0"/>
              <a:t>Impact of False Negative and False Positives</a:t>
            </a:r>
          </a:p>
          <a:p>
            <a:pPr>
              <a:buFont typeface="Arial"/>
              <a:buChar char="•"/>
            </a:pPr>
            <a:r>
              <a:rPr lang="en-US" dirty="0"/>
              <a:t>In </a:t>
            </a:r>
            <a:r>
              <a:rPr lang="en-US" dirty="0" err="1"/>
              <a:t>Realworld</a:t>
            </a:r>
            <a:r>
              <a:rPr lang="en-US" dirty="0"/>
              <a:t> scenario if our model given more False Positives, it makes Irritating to the Customers. If our model increases 'False </a:t>
            </a:r>
            <a:r>
              <a:rPr lang="en-US" dirty="0" err="1"/>
              <a:t>Negitves</a:t>
            </a:r>
            <a:r>
              <a:rPr lang="en-US" dirty="0"/>
              <a:t>', it means innocent bank customers are effected and lost money due to Fraud happened.</a:t>
            </a:r>
          </a:p>
          <a:p>
            <a:pPr marL="0" indent="0">
              <a:buNone/>
            </a:pPr>
            <a:r>
              <a:rPr lang="en-US" b="1" dirty="0"/>
              <a:t>     </a:t>
            </a:r>
            <a:r>
              <a:rPr lang="en-US" b="1" u="sng" dirty="0"/>
              <a:t>Time and Cost</a:t>
            </a:r>
          </a:p>
          <a:p>
            <a:pPr>
              <a:buFont typeface="Arial"/>
              <a:buChar char="•"/>
            </a:pPr>
            <a:r>
              <a:rPr lang="en-US" dirty="0"/>
              <a:t>System Resource used for models are high and GPU's are taking more time to provide output. Since there outputs are not favorable it's not considered.</a:t>
            </a:r>
          </a:p>
        </p:txBody>
      </p:sp>
      <p:pic>
        <p:nvPicPr>
          <p:cNvPr id="5" name="Content Placeholder 4" descr="Internet of Things Concept">
            <a:extLst>
              <a:ext uri="{FF2B5EF4-FFF2-40B4-BE49-F238E27FC236}">
                <a16:creationId xmlns:a16="http://schemas.microsoft.com/office/drawing/2014/main" id="{ABF3A897-A073-4FC3-A4E5-5E5901545A1F}"/>
              </a:ext>
            </a:extLst>
          </p:cNvPr>
          <p:cNvPicPr>
            <a:picLocks noGrp="1" noChangeAspect="1"/>
          </p:cNvPicPr>
          <p:nvPr>
            <p:ph type="pic" sz="quarter" idx="15"/>
          </p:nvPr>
        </p:nvPicPr>
        <p:blipFill>
          <a:blip r:embed="rId3"/>
          <a:srcRect l="25543" r="34877"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540355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9FC9-7E9E-10A6-7217-A4D285D48D99}"/>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100"/>
              <a:t>Model Performance and Recommendations</a:t>
            </a:r>
          </a:p>
        </p:txBody>
      </p:sp>
    </p:spTree>
    <p:extLst>
      <p:ext uri="{BB962C8B-B14F-4D97-AF65-F5344CB8AC3E}">
        <p14:creationId xmlns:p14="http://schemas.microsoft.com/office/powerpoint/2010/main" val="4040763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2082-4419-243A-5F3B-3A3E4B501D2F}"/>
              </a:ext>
            </a:extLst>
          </p:cNvPr>
          <p:cNvSpPr>
            <a:spLocks noGrp="1"/>
          </p:cNvSpPr>
          <p:nvPr>
            <p:ph type="title"/>
          </p:nvPr>
        </p:nvSpPr>
        <p:spPr>
          <a:xfrm>
            <a:off x="731520" y="3886200"/>
            <a:ext cx="3649468" cy="2048256"/>
          </a:xfrm>
        </p:spPr>
        <p:txBody>
          <a:bodyPr anchor="t">
            <a:normAutofit/>
          </a:bodyPr>
          <a:lstStyle/>
          <a:p>
            <a:r>
              <a:rPr lang="en-US"/>
              <a:t>Model Performance</a:t>
            </a:r>
          </a:p>
        </p:txBody>
      </p:sp>
      <p:pic>
        <p:nvPicPr>
          <p:cNvPr id="5" name="Content Placeholder 4" descr="Creative Thinking">
            <a:extLst>
              <a:ext uri="{FF2B5EF4-FFF2-40B4-BE49-F238E27FC236}">
                <a16:creationId xmlns:a16="http://schemas.microsoft.com/office/drawing/2014/main" id="{8925F6FF-F074-456C-A476-57DA7A66476A}"/>
              </a:ext>
            </a:extLst>
          </p:cNvPr>
          <p:cNvPicPr>
            <a:picLocks noGrp="1" noChangeAspect="1"/>
          </p:cNvPicPr>
          <p:nvPr>
            <p:ph type="pic" sz="quarter" idx="15"/>
          </p:nvPr>
        </p:nvPicPr>
        <p:blipFill>
          <a:blip r:embed="rId3"/>
          <a:srcRect l="19539" r="8089" b="-4"/>
          <a:stretch>
            <a:fillRect/>
          </a:stretch>
        </p:blipFill>
        <p:spPr>
          <a:xfrm>
            <a:off x="731518" y="10"/>
            <a:ext cx="3520440" cy="3648446"/>
          </a:xfrm>
          <a:prstGeom prst="rect">
            <a:avLst/>
          </a:prstGeom>
          <a:noFill/>
        </p:spPr>
      </p:pic>
      <p:sp>
        <p:nvSpPr>
          <p:cNvPr id="4" name="Content Placeholder 3">
            <a:extLst>
              <a:ext uri="{FF2B5EF4-FFF2-40B4-BE49-F238E27FC236}">
                <a16:creationId xmlns:a16="http://schemas.microsoft.com/office/drawing/2014/main" id="{805E29E1-5CEA-B4CB-8730-CE112534C6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6905" y="280755"/>
            <a:ext cx="6428232" cy="5230368"/>
          </a:xfrm>
        </p:spPr>
        <p:txBody>
          <a:bodyPr>
            <a:normAutofit/>
          </a:bodyPr>
          <a:lstStyle/>
          <a:p>
            <a:pPr marL="0" indent="0">
              <a:spcBef>
                <a:spcPts val="2500"/>
              </a:spcBef>
              <a:buFont typeface="Arial" panose="020B0604020202020204" pitchFamily="34" charset="0"/>
              <a:buNone/>
            </a:pPr>
            <a:r>
              <a:rPr lang="en-US" b="1" dirty="0"/>
              <a:t>Evaluation Metrics</a:t>
            </a:r>
          </a:p>
          <a:p>
            <a:pPr marL="0" lvl="1" indent="0">
              <a:buFont typeface="Arial" panose="020B0604020202020204" pitchFamily="34" charset="0"/>
              <a:buNone/>
            </a:pPr>
            <a:r>
              <a:rPr dirty="0"/>
              <a:t>Accuracy, precision, recall, and F1-score measure the effectiveness in detecting fraud while reducing false positives.</a:t>
            </a:r>
            <a:endParaRPr lang="en-US" dirty="0"/>
          </a:p>
          <a:p>
            <a:pPr marL="0" indent="0">
              <a:spcBef>
                <a:spcPts val="2500"/>
              </a:spcBef>
              <a:buFont typeface="Arial" panose="020B0604020202020204" pitchFamily="34" charset="0"/>
              <a:buNone/>
            </a:pPr>
            <a:r>
              <a:rPr lang="en-US" b="1" dirty="0"/>
              <a:t>ROC Curve and AUC</a:t>
            </a:r>
          </a:p>
          <a:p>
            <a:pPr marL="0" lvl="1" indent="0">
              <a:buFont typeface="Arial" panose="020B0604020202020204" pitchFamily="34" charset="0"/>
              <a:buNone/>
            </a:pPr>
            <a:r>
              <a:rPr dirty="0"/>
              <a:t>ROC curve and AUC score show the balance between sensitivity and specificity in classification models.</a:t>
            </a:r>
            <a:endParaRPr lang="en-US" dirty="0"/>
          </a:p>
          <a:p>
            <a:pPr marL="0" indent="0">
              <a:spcBef>
                <a:spcPts val="2500"/>
              </a:spcBef>
              <a:buNone/>
            </a:pPr>
            <a:r>
              <a:rPr lang="en-US" b="1"/>
              <a:t>Model Comparison</a:t>
            </a:r>
            <a:endParaRPr lang="en-US"/>
          </a:p>
          <a:p>
            <a:pPr lvl="1" indent="0">
              <a:buNone/>
            </a:pPr>
            <a:r>
              <a:rPr lang="en-US" b="1"/>
              <a:t>Hybrid</a:t>
            </a:r>
            <a:r>
              <a:rPr lang="en-US" b="1">
                <a:ea typeface="+mn-lt"/>
                <a:cs typeface="+mn-lt"/>
              </a:rPr>
              <a:t> CatBoost</a:t>
            </a:r>
            <a:r>
              <a:rPr lang="en-US">
                <a:ea typeface="+mn-lt"/>
                <a:cs typeface="+mn-lt"/>
              </a:rPr>
              <a:t> covers almost the entire area → best overall performance.</a:t>
            </a:r>
            <a:endParaRPr lang="en-US"/>
          </a:p>
          <a:p>
            <a:pPr lvl="1" indent="0">
              <a:buNone/>
            </a:pPr>
            <a:r>
              <a:rPr lang="en-US" b="1" err="1">
                <a:ea typeface="+mn-lt"/>
                <a:cs typeface="+mn-lt"/>
              </a:rPr>
              <a:t>CatBoost</a:t>
            </a:r>
            <a:r>
              <a:rPr lang="en-US">
                <a:ea typeface="+mn-lt"/>
                <a:cs typeface="+mn-lt"/>
              </a:rPr>
              <a:t> and </a:t>
            </a:r>
            <a:r>
              <a:rPr lang="en-US" b="1" err="1">
                <a:ea typeface="+mn-lt"/>
                <a:cs typeface="+mn-lt"/>
              </a:rPr>
              <a:t>XGBoost</a:t>
            </a:r>
            <a:r>
              <a:rPr lang="en-US">
                <a:ea typeface="+mn-lt"/>
                <a:cs typeface="+mn-lt"/>
              </a:rPr>
              <a:t> also show strong balance across all metrics.</a:t>
            </a:r>
          </a:p>
          <a:p>
            <a:pPr lvl="1" indent="0">
              <a:buNone/>
            </a:pPr>
            <a:r>
              <a:rPr lang="en-US" b="1">
                <a:ea typeface="+mn-lt"/>
                <a:cs typeface="+mn-lt"/>
              </a:rPr>
              <a:t>Logistic Regression</a:t>
            </a:r>
            <a:r>
              <a:rPr lang="en-US">
                <a:ea typeface="+mn-lt"/>
                <a:cs typeface="+mn-lt"/>
              </a:rPr>
              <a:t> has high Precision but weaker Recall.</a:t>
            </a:r>
          </a:p>
          <a:p>
            <a:pPr lvl="1" indent="0">
              <a:buNone/>
            </a:pPr>
            <a:r>
              <a:rPr lang="en-US" b="1" dirty="0">
                <a:ea typeface="+mn-lt"/>
                <a:cs typeface="+mn-lt"/>
              </a:rPr>
              <a:t>Decision Tree</a:t>
            </a:r>
            <a:r>
              <a:rPr lang="en-US" dirty="0">
                <a:ea typeface="+mn-lt"/>
                <a:cs typeface="+mn-lt"/>
              </a:rPr>
              <a:t> excels in Recall but sacrifices Precision.</a:t>
            </a:r>
          </a:p>
          <a:p>
            <a:pPr lvl="1" indent="0">
              <a:buNone/>
            </a:pPr>
            <a:r>
              <a:rPr lang="en-US" b="1" dirty="0">
                <a:ea typeface="+mn-lt"/>
                <a:cs typeface="+mn-lt"/>
              </a:rPr>
              <a:t>Naive Bayes</a:t>
            </a:r>
            <a:r>
              <a:rPr lang="en-US" dirty="0">
                <a:ea typeface="+mn-lt"/>
                <a:cs typeface="+mn-lt"/>
              </a:rPr>
              <a:t> and </a:t>
            </a:r>
            <a:r>
              <a:rPr lang="en-US" b="1" dirty="0" err="1">
                <a:ea typeface="+mn-lt"/>
                <a:cs typeface="+mn-lt"/>
              </a:rPr>
              <a:t>LightGBM</a:t>
            </a:r>
            <a:r>
              <a:rPr lang="en-US" dirty="0">
                <a:ea typeface="+mn-lt"/>
                <a:cs typeface="+mn-lt"/>
              </a:rPr>
              <a:t> perform poorly in Precision and F1-score.</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18739910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17">
            <a:extLst>
              <a:ext uri="{FF2B5EF4-FFF2-40B4-BE49-F238E27FC236}">
                <a16:creationId xmlns:a16="http://schemas.microsoft.com/office/drawing/2014/main" id="{E42B8B57-DE8A-14D7-D37A-E153C16E5AB3}"/>
              </a:ext>
            </a:extLst>
          </p:cNvPr>
          <p:cNvGraphicFramePr>
            <a:graphicFrameLocks/>
          </p:cNvGraphicFramePr>
          <p:nvPr>
            <p:extLst>
              <p:ext uri="{D42A27DB-BD31-4B8C-83A1-F6EECF244321}">
                <p14:modId xmlns:p14="http://schemas.microsoft.com/office/powerpoint/2010/main" val="2029495110"/>
              </p:ext>
            </p:extLst>
          </p:nvPr>
        </p:nvGraphicFramePr>
        <p:xfrm>
          <a:off x="508000" y="0"/>
          <a:ext cx="11193586" cy="6411862"/>
        </p:xfrm>
        <a:graphic>
          <a:graphicData uri="http://schemas.openxmlformats.org/drawingml/2006/table">
            <a:tbl>
              <a:tblPr bandRow="1">
                <a:tableStyleId>{5C22544A-7EE6-4342-B048-85BDC9FD1C3A}</a:tableStyleId>
              </a:tblPr>
              <a:tblGrid>
                <a:gridCol w="897598">
                  <a:extLst>
                    <a:ext uri="{9D8B030D-6E8A-4147-A177-3AD203B41FA5}">
                      <a16:colId xmlns:a16="http://schemas.microsoft.com/office/drawing/2014/main" val="2917614219"/>
                    </a:ext>
                  </a:extLst>
                </a:gridCol>
                <a:gridCol w="1830398">
                  <a:extLst>
                    <a:ext uri="{9D8B030D-6E8A-4147-A177-3AD203B41FA5}">
                      <a16:colId xmlns:a16="http://schemas.microsoft.com/office/drawing/2014/main" val="382621077"/>
                    </a:ext>
                  </a:extLst>
                </a:gridCol>
                <a:gridCol w="1249599">
                  <a:extLst>
                    <a:ext uri="{9D8B030D-6E8A-4147-A177-3AD203B41FA5}">
                      <a16:colId xmlns:a16="http://schemas.microsoft.com/office/drawing/2014/main" val="3066846573"/>
                    </a:ext>
                  </a:extLst>
                </a:gridCol>
                <a:gridCol w="897598">
                  <a:extLst>
                    <a:ext uri="{9D8B030D-6E8A-4147-A177-3AD203B41FA5}">
                      <a16:colId xmlns:a16="http://schemas.microsoft.com/office/drawing/2014/main" val="4235586722"/>
                    </a:ext>
                  </a:extLst>
                </a:gridCol>
                <a:gridCol w="1038398">
                  <a:extLst>
                    <a:ext uri="{9D8B030D-6E8A-4147-A177-3AD203B41FA5}">
                      <a16:colId xmlns:a16="http://schemas.microsoft.com/office/drawing/2014/main" val="302286194"/>
                    </a:ext>
                  </a:extLst>
                </a:gridCol>
                <a:gridCol w="1249599">
                  <a:extLst>
                    <a:ext uri="{9D8B030D-6E8A-4147-A177-3AD203B41FA5}">
                      <a16:colId xmlns:a16="http://schemas.microsoft.com/office/drawing/2014/main" val="905036640"/>
                    </a:ext>
                  </a:extLst>
                </a:gridCol>
                <a:gridCol w="2129598">
                  <a:extLst>
                    <a:ext uri="{9D8B030D-6E8A-4147-A177-3AD203B41FA5}">
                      <a16:colId xmlns:a16="http://schemas.microsoft.com/office/drawing/2014/main" val="684280043"/>
                    </a:ext>
                  </a:extLst>
                </a:gridCol>
                <a:gridCol w="1900798">
                  <a:extLst>
                    <a:ext uri="{9D8B030D-6E8A-4147-A177-3AD203B41FA5}">
                      <a16:colId xmlns:a16="http://schemas.microsoft.com/office/drawing/2014/main" val="3364974276"/>
                    </a:ext>
                  </a:extLst>
                </a:gridCol>
              </a:tblGrid>
              <a:tr h="599671">
                <a:tc>
                  <a:txBody>
                    <a:bodyPr/>
                    <a:lstStyle/>
                    <a:p>
                      <a:pPr algn="ctr">
                        <a:buNone/>
                      </a:pPr>
                      <a:r>
                        <a:rPr lang="en-US" sz="1400" b="1" u="none" strike="noStrike" err="1">
                          <a:solidFill>
                            <a:schemeClr val="tx1"/>
                          </a:solidFill>
                          <a:effectLst/>
                          <a:latin typeface="Aptos Narrow"/>
                        </a:rPr>
                        <a:t>S.No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Consolas"/>
                        </a:rPr>
                        <a:t>precision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recall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f1-score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Accuracy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MSE ( FP+FN) / Total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err="1">
                          <a:solidFill>
                            <a:schemeClr val="tx1"/>
                          </a:solidFill>
                          <a:effectLst/>
                          <a:latin typeface="Aptos Narrow"/>
                        </a:rPr>
                        <a:t>Confustion</a:t>
                      </a:r>
                      <a:r>
                        <a:rPr lang="en-US" sz="1400" b="1" u="none" strike="noStrike" dirty="0">
                          <a:solidFill>
                            <a:schemeClr val="tx1"/>
                          </a:solidFill>
                          <a:effectLst/>
                          <a:latin typeface="Aptos Narrow"/>
                        </a:rPr>
                        <a:t> Matrix</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1027282935"/>
                  </a:ext>
                </a:extLst>
              </a:tr>
              <a:tr h="645799">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Logistic Regression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0.98863416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[[1270847      34]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474    1169]]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090532297"/>
                  </a:ext>
                </a:extLst>
              </a:tr>
              <a:tr h="645799">
                <a:tc>
                  <a:txBody>
                    <a:bodyPr/>
                    <a:lstStyle/>
                    <a:p>
                      <a:pPr algn="ctr">
                        <a:buNone/>
                      </a:pPr>
                      <a:r>
                        <a:rPr lang="en-US" sz="1400" b="0" u="none" strike="noStrike" dirty="0">
                          <a:solidFill>
                            <a:schemeClr val="tx1"/>
                          </a:solidFill>
                          <a:effectLst/>
                          <a:latin typeface="Aptos Narrow"/>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Decision Tree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Consolas"/>
                        </a:rPr>
                        <a:t>0.95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0.000286496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[[1270522     359]</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5    1638]]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16973"/>
                  </a:ext>
                </a:extLst>
              </a:tr>
              <a:tr h="645799">
                <a:tc>
                  <a:txBody>
                    <a:bodyPr/>
                    <a:lstStyle/>
                    <a:p>
                      <a:pPr algn="ctr">
                        <a:buNone/>
                      </a:pPr>
                      <a:r>
                        <a:rPr lang="en-US" sz="1400" b="0" u="none" strike="noStrike" dirty="0">
                          <a:solidFill>
                            <a:schemeClr val="tx1"/>
                          </a:solidFill>
                          <a:effectLst/>
                          <a:latin typeface="Aptos Narrow"/>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Naive Bayes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0.274170263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[[997424 273457]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7   1636]]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981747774"/>
                  </a:ext>
                </a:extLst>
              </a:tr>
              <a:tr h="645799">
                <a:tc>
                  <a:txBody>
                    <a:bodyPr/>
                    <a:lstStyle/>
                    <a:p>
                      <a:pPr algn="ctr">
                        <a:buNone/>
                      </a:pPr>
                      <a:r>
                        <a:rPr lang="en-US" sz="1400" b="0" u="none" strike="noStrike" dirty="0">
                          <a:solidFill>
                            <a:schemeClr val="tx1"/>
                          </a:solidFill>
                          <a:effectLst/>
                          <a:latin typeface="Aptos Narrow"/>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err="1">
                          <a:solidFill>
                            <a:schemeClr val="tx1"/>
                          </a:solidFill>
                          <a:effectLst/>
                          <a:latin typeface="Aptos Narrow"/>
                        </a:rPr>
                        <a:t>LightGBM</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1.295266732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[[553740 717141]</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100   1543]]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946037"/>
                  </a:ext>
                </a:extLst>
              </a:tr>
              <a:tr h="645799">
                <a:tc>
                  <a:txBody>
                    <a:bodyPr/>
                    <a:lstStyle/>
                    <a:p>
                      <a:pPr algn="ctr">
                        <a:buNone/>
                      </a:pPr>
                      <a:r>
                        <a:rPr lang="en-US" sz="1400" b="0" u="none" strike="noStrike" dirty="0">
                          <a:solidFill>
                            <a:schemeClr val="tx1"/>
                          </a:solidFill>
                          <a:effectLst/>
                          <a:latin typeface="Aptos Narrow"/>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err="1">
                          <a:solidFill>
                            <a:schemeClr val="tx1"/>
                          </a:solidFill>
                          <a:effectLst/>
                          <a:latin typeface="Aptos Narrow"/>
                        </a:rPr>
                        <a:t>CatBoostClassifier</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0.000399888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[[1270375     506]</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2    1641]]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315803984"/>
                  </a:ext>
                </a:extLst>
              </a:tr>
              <a:tr h="645799">
                <a:tc>
                  <a:txBody>
                    <a:bodyPr/>
                    <a:lstStyle/>
                    <a:p>
                      <a:pPr algn="ctr">
                        <a:buNone/>
                      </a:pPr>
                      <a:r>
                        <a:rPr lang="en-US" sz="1400" b="0" u="none" strike="noStrike" dirty="0">
                          <a:solidFill>
                            <a:schemeClr val="tx1"/>
                          </a:solidFill>
                          <a:effectLst/>
                          <a:latin typeface="Aptos Narrow"/>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Adaptive Boosting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0.000742798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[[1270871      10]</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934     709]]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23868"/>
                  </a:ext>
                </a:extLst>
              </a:tr>
              <a:tr h="645799">
                <a:tc>
                  <a:txBody>
                    <a:bodyPr/>
                    <a:lstStyle/>
                    <a:p>
                      <a:pPr algn="ctr">
                        <a:buNone/>
                      </a:pPr>
                      <a:r>
                        <a:rPr lang="en-US" sz="1400" b="0" u="none" strike="noStrike" dirty="0">
                          <a:solidFill>
                            <a:schemeClr val="tx1"/>
                          </a:solidFill>
                          <a:effectLst/>
                          <a:latin typeface="Aptos Narrow"/>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err="1">
                          <a:solidFill>
                            <a:schemeClr val="tx1"/>
                          </a:solidFill>
                          <a:effectLst/>
                          <a:latin typeface="Aptos Narrow"/>
                        </a:rPr>
                        <a:t>XGBoost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0.000723625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[[1269994     887]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32    1611]]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169188653"/>
                  </a:ext>
                </a:extLst>
              </a:tr>
              <a:tr h="645799">
                <a:tc>
                  <a:txBody>
                    <a:bodyPr/>
                    <a:lstStyle/>
                    <a:p>
                      <a:pPr algn="ctr">
                        <a:buNone/>
                      </a:pPr>
                      <a:r>
                        <a:rPr lang="en-US" sz="1400" b="0" u="none" strike="noStrike" dirty="0">
                          <a:solidFill>
                            <a:schemeClr val="tx1"/>
                          </a:solidFill>
                          <a:effectLst/>
                          <a:latin typeface="Aptos Narrow"/>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err="1">
                          <a:solidFill>
                            <a:schemeClr val="tx1"/>
                          </a:solidFill>
                          <a:effectLst/>
                          <a:latin typeface="Aptos Narrow"/>
                        </a:rPr>
                        <a:t>IsolationForest</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0.002266807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[[1269627    1254]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1624      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0500848"/>
                  </a:ext>
                </a:extLst>
              </a:tr>
              <a:tr h="645799">
                <a:tc>
                  <a:txBody>
                    <a:bodyPr/>
                    <a:lstStyle/>
                    <a:p>
                      <a:pPr algn="ctr">
                        <a:buNone/>
                      </a:pPr>
                      <a:r>
                        <a:rPr lang="en-US" sz="1400" b="0" u="none" strike="noStrike" dirty="0">
                          <a:solidFill>
                            <a:schemeClr val="tx1"/>
                          </a:solidFill>
                          <a:effectLst/>
                          <a:latin typeface="Aptos Narrow"/>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Hybrid </a:t>
                      </a:r>
                      <a:r>
                        <a:rPr lang="en-US" sz="1400" b="0" u="none" strike="noStrike" dirty="0" err="1">
                          <a:solidFill>
                            <a:schemeClr val="tx1"/>
                          </a:solidFill>
                          <a:effectLst/>
                          <a:latin typeface="Aptos Narrow"/>
                        </a:rPr>
                        <a:t>Catboost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0.000280986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[[1270524     357]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0    1643]]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726258835"/>
                  </a:ext>
                </a:extLst>
              </a:tr>
            </a:tbl>
          </a:graphicData>
        </a:graphic>
      </p:graphicFrame>
    </p:spTree>
    <p:extLst>
      <p:ext uri="{BB962C8B-B14F-4D97-AF65-F5344CB8AC3E}">
        <p14:creationId xmlns:p14="http://schemas.microsoft.com/office/powerpoint/2010/main" val="227733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B62F-F9EB-9D48-6F47-BEBD65AB6D43}"/>
              </a:ext>
            </a:extLst>
          </p:cNvPr>
          <p:cNvSpPr>
            <a:spLocks noGrp="1"/>
          </p:cNvSpPr>
          <p:nvPr>
            <p:ph type="title"/>
          </p:nvPr>
        </p:nvSpPr>
        <p:spPr>
          <a:xfrm>
            <a:off x="731520" y="312572"/>
            <a:ext cx="6858000" cy="923544"/>
          </a:xfrm>
        </p:spPr>
        <p:txBody>
          <a:bodyPr anchor="b">
            <a:normAutofit/>
          </a:bodyPr>
          <a:lstStyle/>
          <a:p>
            <a:r>
              <a:rPr lang="en-US" dirty="0"/>
              <a:t>Model Suggestion</a:t>
            </a:r>
          </a:p>
        </p:txBody>
      </p:sp>
      <p:sp>
        <p:nvSpPr>
          <p:cNvPr id="4" name="Content Placeholder 3">
            <a:extLst>
              <a:ext uri="{FF2B5EF4-FFF2-40B4-BE49-F238E27FC236}">
                <a16:creationId xmlns:a16="http://schemas.microsoft.com/office/drawing/2014/main" id="{E0D89BEE-48D1-4AAE-3EB4-1B1B02012B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a:buNone/>
            </a:pPr>
            <a:r>
              <a:rPr lang="en-US" sz="2000" dirty="0"/>
              <a:t>    Now we are doing Hybrid Machine Learning model. For that we are using </a:t>
            </a:r>
            <a:r>
              <a:rPr lang="en-US" sz="2000" b="1" dirty="0" err="1"/>
              <a:t>CatBoost</a:t>
            </a:r>
            <a:r>
              <a:rPr lang="en-US" sz="2000" b="1" dirty="0"/>
              <a:t> model</a:t>
            </a:r>
            <a:r>
              <a:rPr lang="en-US" sz="2000" dirty="0"/>
              <a:t>, with the Following machine learning models features as an input.</a:t>
            </a:r>
          </a:p>
          <a:p>
            <a:r>
              <a:rPr lang="en-US" sz="2000" dirty="0">
                <a:ea typeface="+mn-lt"/>
                <a:cs typeface="+mn-lt"/>
              </a:rPr>
              <a:t>Decision Tree</a:t>
            </a:r>
            <a:endParaRPr lang="en-US" sz="2000" dirty="0"/>
          </a:p>
          <a:p>
            <a:r>
              <a:rPr lang="en-US" sz="2000" dirty="0" err="1">
                <a:ea typeface="+mn-lt"/>
                <a:cs typeface="+mn-lt"/>
              </a:rPr>
              <a:t>CatBoost</a:t>
            </a:r>
            <a:endParaRPr lang="en-US" sz="2000" dirty="0"/>
          </a:p>
          <a:p>
            <a:r>
              <a:rPr lang="en-US" sz="2000" dirty="0" err="1">
                <a:ea typeface="+mn-lt"/>
                <a:cs typeface="+mn-lt"/>
              </a:rPr>
              <a:t>XGBoost</a:t>
            </a:r>
            <a:endParaRPr lang="en-US" sz="2000" dirty="0"/>
          </a:p>
          <a:p>
            <a:r>
              <a:rPr lang="en-US" sz="2000" dirty="0"/>
              <a:t>K-means Clustering</a:t>
            </a:r>
          </a:p>
          <a:p>
            <a:r>
              <a:rPr lang="en-US" sz="2000" dirty="0"/>
              <a:t>Isolation Forest</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5400F09-D25F-4E2D-80BD-F049F69E0BBA}"/>
              </a:ext>
            </a:extLst>
          </p:cNvPr>
          <p:cNvPicPr>
            <a:picLocks noGrp="1" noChangeAspect="1"/>
          </p:cNvPicPr>
          <p:nvPr>
            <p:ph type="pic" sz="quarter" idx="15"/>
          </p:nvPr>
        </p:nvPicPr>
        <p:blipFill>
          <a:blip r:embed="rId3"/>
          <a:srcRect l="31235" r="3748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636173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E4ED-81E4-FA1A-2677-9C856A95DBB6}"/>
              </a:ext>
            </a:extLst>
          </p:cNvPr>
          <p:cNvSpPr>
            <a:spLocks noGrp="1"/>
          </p:cNvSpPr>
          <p:nvPr>
            <p:ph type="title"/>
          </p:nvPr>
        </p:nvSpPr>
        <p:spPr>
          <a:xfrm>
            <a:off x="731520" y="2596896"/>
            <a:ext cx="8933688" cy="3566160"/>
          </a:xfrm>
        </p:spPr>
        <p:txBody>
          <a:bodyPr anchor="b">
            <a:normAutofit/>
          </a:bodyPr>
          <a:lstStyle/>
          <a:p>
            <a:r>
              <a:rPr lang="en-US" dirty="0"/>
              <a:t>Deployment</a:t>
            </a:r>
          </a:p>
        </p:txBody>
      </p:sp>
    </p:spTree>
    <p:extLst>
      <p:ext uri="{BB962C8B-B14F-4D97-AF65-F5344CB8AC3E}">
        <p14:creationId xmlns:p14="http://schemas.microsoft.com/office/powerpoint/2010/main" val="864085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0500F-4853-9A8D-BE9F-A473F6CAB4BA}"/>
              </a:ext>
            </a:extLst>
          </p:cNvPr>
          <p:cNvSpPr>
            <a:spLocks noGrp="1"/>
          </p:cNvSpPr>
          <p:nvPr>
            <p:ph type="title"/>
          </p:nvPr>
        </p:nvSpPr>
        <p:spPr>
          <a:xfrm>
            <a:off x="6097046" y="-2185"/>
            <a:ext cx="5440680" cy="526850"/>
          </a:xfrm>
        </p:spPr>
        <p:txBody>
          <a:bodyPr anchor="b">
            <a:normAutofit/>
          </a:bodyPr>
          <a:lstStyle/>
          <a:p>
            <a:r>
              <a:rPr lang="en-US"/>
              <a:t>Summary and Next Steps</a:t>
            </a:r>
          </a:p>
        </p:txBody>
      </p:sp>
      <p:pic>
        <p:nvPicPr>
          <p:cNvPr id="5" name="Content Placeholder 4" descr="3d illustration">
            <a:extLst>
              <a:ext uri="{FF2B5EF4-FFF2-40B4-BE49-F238E27FC236}">
                <a16:creationId xmlns:a16="http://schemas.microsoft.com/office/drawing/2014/main" id="{C6BDAB0D-FAB3-4E57-B4EE-F1CC399FA89C}"/>
              </a:ext>
            </a:extLst>
          </p:cNvPr>
          <p:cNvPicPr>
            <a:picLocks noGrp="1" noChangeAspect="1"/>
          </p:cNvPicPr>
          <p:nvPr>
            <p:ph type="pic" sz="quarter" idx="15"/>
          </p:nvPr>
        </p:nvPicPr>
        <p:blipFill>
          <a:blip r:embed="rId3"/>
          <a:srcRect l="1901" r="16115"/>
          <a:stretch>
            <a:fillRect/>
          </a:stretch>
        </p:blipFill>
        <p:spPr>
          <a:xfrm>
            <a:off x="20" y="-1"/>
            <a:ext cx="5247300" cy="6400369"/>
          </a:xfrm>
          <a:prstGeom prst="rect">
            <a:avLst/>
          </a:prstGeom>
          <a:noFill/>
        </p:spPr>
      </p:pic>
      <p:sp>
        <p:nvSpPr>
          <p:cNvPr id="4" name="Content Placeholder 3">
            <a:extLst>
              <a:ext uri="{FF2B5EF4-FFF2-40B4-BE49-F238E27FC236}">
                <a16:creationId xmlns:a16="http://schemas.microsoft.com/office/drawing/2014/main" id="{B3FEF803-1556-3931-6C62-4DC3890992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7046" y="525575"/>
            <a:ext cx="5440680" cy="5244742"/>
          </a:xfrm>
        </p:spPr>
        <p:txBody>
          <a:bodyPr vert="horz" lIns="91440" tIns="45720" rIns="91440" bIns="45720" rtlCol="0" anchor="t">
            <a:noAutofit/>
          </a:bodyPr>
          <a:lstStyle/>
          <a:p>
            <a:pPr marL="0" indent="0">
              <a:spcBef>
                <a:spcPts val="2500"/>
              </a:spcBef>
              <a:buFont typeface="Arial" panose="020B0604020202020204" pitchFamily="34" charset="0"/>
              <a:buNone/>
            </a:pPr>
            <a:r>
              <a:rPr lang="en-US" sz="1600" b="1" dirty="0"/>
              <a:t>Project Achievements</a:t>
            </a:r>
          </a:p>
          <a:p>
            <a:pPr marL="0" lvl="1" indent="0">
              <a:buFont typeface="Arial" panose="020B0604020202020204" pitchFamily="34" charset="0"/>
              <a:buNone/>
            </a:pPr>
            <a:r>
              <a:rPr sz="1600" dirty="0"/>
              <a:t>The project integrates multiple machine learning models to detect fraud effectively and provides real-time alerts with actionable insights.</a:t>
            </a:r>
            <a:endParaRPr lang="en-US" sz="1600" dirty="0"/>
          </a:p>
          <a:p>
            <a:pPr marL="0" indent="0">
              <a:spcBef>
                <a:spcPts val="2500"/>
              </a:spcBef>
              <a:buFont typeface="Arial" panose="020B0604020202020204" pitchFamily="34" charset="0"/>
              <a:buNone/>
            </a:pPr>
            <a:r>
              <a:rPr lang="en-US" sz="1600" b="1" dirty="0"/>
              <a:t>Deployment and Monitoring</a:t>
            </a:r>
          </a:p>
          <a:p>
            <a:pPr marL="0" lvl="1" indent="0">
              <a:buNone/>
            </a:pPr>
            <a:r>
              <a:rPr lang="en-US" sz="1600" dirty="0"/>
              <a:t>Deployment is completed using </a:t>
            </a:r>
            <a:r>
              <a:rPr lang="en-US" sz="1600" err="1"/>
              <a:t>streamlit</a:t>
            </a:r>
            <a:r>
              <a:rPr lang="en-US" sz="1600" dirty="0"/>
              <a:t> where output </a:t>
            </a:r>
            <a:r>
              <a:rPr lang="en-US" sz="1600" err="1"/>
              <a:t>pkl</a:t>
            </a:r>
            <a:r>
              <a:rPr lang="en-US" sz="1600" dirty="0"/>
              <a:t> files are used to run a web file in local host. Result extraction to csv file is enable us to save data and use it as source for next operations.</a:t>
            </a:r>
          </a:p>
          <a:p>
            <a:pPr marL="0" indent="0">
              <a:spcBef>
                <a:spcPts val="2500"/>
              </a:spcBef>
              <a:buFont typeface="Arial" panose="020B0604020202020204" pitchFamily="34" charset="0"/>
              <a:buNone/>
            </a:pPr>
            <a:r>
              <a:rPr lang="en-US" sz="1600" b="1" dirty="0"/>
              <a:t>Continuous Improvement</a:t>
            </a:r>
          </a:p>
          <a:p>
            <a:pPr marL="0" lvl="1" indent="0">
              <a:buNone/>
            </a:pPr>
            <a:r>
              <a:rPr lang="en-US" sz="1600" dirty="0"/>
              <a:t>Below are the scope of Continuous Improvement (Kaizen). </a:t>
            </a:r>
          </a:p>
          <a:p>
            <a:pPr marL="0" lvl="1" indent="0">
              <a:buNone/>
            </a:pPr>
            <a:r>
              <a:rPr lang="en-US" sz="1600" dirty="0"/>
              <a:t>1) Deployment from local host to live web pages.</a:t>
            </a:r>
          </a:p>
          <a:p>
            <a:pPr marL="0" lvl="1" indent="0">
              <a:buNone/>
            </a:pPr>
            <a:r>
              <a:rPr lang="en-US" sz="1600" dirty="0"/>
              <a:t>2) Implement streaming in a live environment.</a:t>
            </a:r>
          </a:p>
        </p:txBody>
      </p:sp>
    </p:spTree>
    <p:extLst>
      <p:ext uri="{BB962C8B-B14F-4D97-AF65-F5344CB8AC3E}">
        <p14:creationId xmlns:p14="http://schemas.microsoft.com/office/powerpoint/2010/main" val="46762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9C45-F024-DC16-0B28-3DEAD6299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B553E-AF9A-B353-2395-21B35A9E0279}"/>
              </a:ext>
            </a:extLst>
          </p:cNvPr>
          <p:cNvSpPr>
            <a:spLocks noGrp="1"/>
          </p:cNvSpPr>
          <p:nvPr>
            <p:ph type="title"/>
          </p:nvPr>
        </p:nvSpPr>
        <p:spPr>
          <a:xfrm>
            <a:off x="731520" y="2596896"/>
            <a:ext cx="8933688" cy="3566160"/>
          </a:xfrm>
        </p:spPr>
        <p:txBody>
          <a:bodyPr anchor="b">
            <a:normAutofit/>
          </a:bodyPr>
          <a:lstStyle/>
          <a:p>
            <a:r>
              <a:rPr lang="en-US" dirty="0"/>
              <a:t>Thank you!</a:t>
            </a:r>
          </a:p>
        </p:txBody>
      </p:sp>
    </p:spTree>
    <p:extLst>
      <p:ext uri="{BB962C8B-B14F-4D97-AF65-F5344CB8AC3E}">
        <p14:creationId xmlns:p14="http://schemas.microsoft.com/office/powerpoint/2010/main" val="14453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04CAC9-4DB9-48D9-8A6F-3675D14127D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5D279CDD-1FB7-427E-9208-ECF0EB941AD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753F6F-88D8-493D-A089-0923419088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TotalTime>0</TotalTime>
  <Words>4967</Words>
  <Application>Microsoft Office PowerPoint</Application>
  <PresentationFormat>Widescreen</PresentationFormat>
  <Paragraphs>318</Paragraphs>
  <Slides>25</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 Narrow</vt:lpstr>
      <vt:lpstr>Arial</vt:lpstr>
      <vt:lpstr>Avenir Next LT Pro</vt:lpstr>
      <vt:lpstr>Avenir Next LT Pro Light</vt:lpstr>
      <vt:lpstr>Calibri</vt:lpstr>
      <vt:lpstr>Calibri Light</vt:lpstr>
      <vt:lpstr>Consolas</vt:lpstr>
      <vt:lpstr>Neue Haas Grotesk Text Pro</vt:lpstr>
      <vt:lpstr>system-ui</vt:lpstr>
      <vt:lpstr>Univers</vt:lpstr>
      <vt:lpstr>GradientRise</vt:lpstr>
      <vt:lpstr>Capstone Project: Fraud Detection System for JPMorgan Chase - Case Study</vt:lpstr>
      <vt:lpstr>Introduction and Problem Statement</vt:lpstr>
      <vt:lpstr>Problem Statement</vt:lpstr>
      <vt:lpstr>Project Objectives and Data Preprocessing</vt:lpstr>
      <vt:lpstr>Project Objectives</vt:lpstr>
      <vt:lpstr>Data Preprocessing Summary</vt:lpstr>
      <vt:lpstr>Data Preprocessing Summary</vt:lpstr>
      <vt:lpstr>Data Preprocessing Summary</vt:lpstr>
      <vt:lpstr>Dataset visualization of raw data</vt:lpstr>
      <vt:lpstr>Exploratory Data Analysis and Model Development</vt:lpstr>
      <vt:lpstr>Exploratory Data Analysis (EDA)</vt:lpstr>
      <vt:lpstr>Exploratory Data Analysis (EDA) Plots</vt:lpstr>
      <vt:lpstr>Exploratory Data Analysis (EDA) Plots</vt:lpstr>
      <vt:lpstr>Exploratory Data Analysis (EDA) Insight</vt:lpstr>
      <vt:lpstr>PowerPoint Presentation</vt:lpstr>
      <vt:lpstr>Correlation Heatmap with the encoded transaction types.</vt:lpstr>
      <vt:lpstr>PowerPoint Presentation</vt:lpstr>
      <vt:lpstr>Model selection preprocessing observation.</vt:lpstr>
      <vt:lpstr>Model Performance and Recommendations</vt:lpstr>
      <vt:lpstr>Model Performance</vt:lpstr>
      <vt:lpstr>PowerPoint Presentation</vt:lpstr>
      <vt:lpstr>Model Suggestion</vt:lpstr>
      <vt:lpstr>Deployment</vt:lpstr>
      <vt:lpstr>Summary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kritika Tripathi</cp:lastModifiedBy>
  <cp:revision>492</cp:revision>
  <dcterms:created xsi:type="dcterms:W3CDTF">2025-08-21T17:09:02Z</dcterms:created>
  <dcterms:modified xsi:type="dcterms:W3CDTF">2025-12-07T16:16:01Z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